
<file path=[Content_Types].xml><?xml version="1.0" encoding="utf-8"?>
<Types xmlns="http://schemas.openxmlformats.org/package/2006/content-types">
  <Default Extension="jpeg" ContentType="image/jpeg"/>
  <Default Extension="jpg" ContentType="image/jp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75"/>
  </p:normalViewPr>
  <p:slideViewPr>
    <p:cSldViewPr snapToGrid="0">
      <p:cViewPr>
        <p:scale>
          <a:sx n="140" d="100"/>
          <a:sy n="140" d="100"/>
        </p:scale>
        <p:origin x="14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Manual baseline</c:v>
                </c:pt>
              </c:strCache>
            </c:strRef>
          </c:tx>
          <c:spPr>
            <a:solidFill>
              <a:srgbClr val="C7CBEE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F2433"/>
                    </a:solidFill>
                    <a:latin typeface="Calibri"/>
                  </a:defRPr>
                </a:pPr>
                <a:endParaRPr lang="en-I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Routing</c:v>
                </c:pt>
                <c:pt idx="1">
                  <c:v>Severity</c:v>
                </c:pt>
                <c:pt idx="2">
                  <c:v>Component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62</c:v>
                </c:pt>
                <c:pt idx="1">
                  <c:v>68</c:v>
                </c:pt>
                <c:pt idx="2">
                  <c:v>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E9F-1D44-81E3-8897571BAFF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BugTriageAI</c:v>
                </c:pt>
              </c:strCache>
            </c:strRef>
          </c:tx>
          <c:spPr>
            <a:solidFill>
              <a:srgbClr val="4F46E5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F2433"/>
                    </a:solidFill>
                    <a:latin typeface="Calibri"/>
                  </a:defRPr>
                </a:pPr>
                <a:endParaRPr lang="en-I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Routing</c:v>
                </c:pt>
                <c:pt idx="1">
                  <c:v>Severity</c:v>
                </c:pt>
                <c:pt idx="2">
                  <c:v>Component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88</c:v>
                </c:pt>
                <c:pt idx="1">
                  <c:v>90</c:v>
                </c:pt>
                <c:pt idx="2">
                  <c:v>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E9F-1D44-81E3-8897571BAFF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6B7280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7/17/26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201C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2331720"/>
            <a:ext cx="56692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defRPr>
            </a:lvl1pPr>
          </a:lstStyle>
          <a:p>
            <a:pPr marL="0" indent="0" algn="l">
              <a:buNone/>
            </a:pPr>
            <a:endParaRPr lang="en-US" sz="5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rgbClr val="1F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01C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960120"/>
            <a:ext cx="78638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4247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 t="4334" b="4334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cri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1C55">
              <a:alpha val="66000"/>
            </a:srgbClr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4" name="left scri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120640" cy="5143500"/>
          </a:xfrm>
          <a:prstGeom prst="rect">
            <a:avLst/>
          </a:prstGeom>
          <a:solidFill>
            <a:srgbClr val="201C55">
              <a:alpha val="78000"/>
            </a:srgbClr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5" name="Text 2"/>
          <p:cNvSpPr/>
          <p:nvPr/>
        </p:nvSpPr>
        <p:spPr>
          <a:xfrm>
            <a:off x="658368" y="17830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FF6B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FOR SOFTWARE DELIVERY</a:t>
            </a:r>
            <a:endParaRPr lang="en-US" sz="115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2331720"/>
            <a:ext cx="5669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BugTriageAI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658368" y="3310128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D9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Automating bug triage for faster, smarter resolution.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658368" y="3785616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AEB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Erin Schaverien</a:t>
            </a:r>
            <a:r>
              <a:rPr lang="he-IL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</a:t>
            </a:r>
            <a:r>
              <a:rPr lang="he-IL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 Ness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58368" y="4261104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C4C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triage is critical yet time-consuming. Misclassification and delays raise development costs and slow releases - automation delivers faster resolution and higher productivity.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 &amp; NEEDS</a:t>
            </a:r>
            <a:endParaRPr lang="en-US" sz="115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business problem</a:t>
            </a:r>
            <a:endParaRPr lang="en-US" sz="3000" dirty="0"/>
          </a:p>
        </p:txBody>
      </p:sp>
      <p:sp>
        <p:nvSpPr>
          <p:cNvPr id="4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371600"/>
            <a:ext cx="3703320" cy="3291840"/>
          </a:xfrm>
          <a:prstGeom prst="roundRect">
            <a:avLst>
              <a:gd name="adj" fmla="val 1667"/>
            </a:avLst>
          </a:prstGeom>
          <a:solidFill>
            <a:srgbClr val="F4F5FE"/>
          </a:solidFill>
          <a:ln w="15875">
            <a:solidFill>
              <a:srgbClr val="C3C8EA"/>
            </a:solidFill>
            <a:prstDash val="solid"/>
          </a:ln>
          <a:effectLst>
            <a:outerShdw blurRad="165100" dist="38100" dir="5400000" algn="bl" rotWithShape="0">
              <a:srgbClr val="8A90C8">
                <a:alpha val="32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822960" y="1645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46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goal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BugTriageAI automates bug triage, using machine-learning models to classify each incoming bug and route it to the right team or developer, efficiently and consistently.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329184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triage is manual, slow, and dependent on a handful of senior engineers - a bottleneck that scales badly as bug volume grows.</a:t>
            </a:r>
            <a:endParaRPr lang="en-US" sz="1300" dirty="0"/>
          </a:p>
        </p:txBody>
      </p:sp>
      <p:sp>
        <p:nvSpPr>
          <p:cNvPr id="8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26280" y="1371600"/>
            <a:ext cx="4069080" cy="1755648"/>
          </a:xfrm>
          <a:prstGeom prst="roundRect">
            <a:avLst>
              <a:gd name="adj" fmla="val 3125"/>
            </a:avLst>
          </a:prstGeom>
          <a:solidFill>
            <a:srgbClr val="F6F7FD"/>
          </a:solidFill>
          <a:ln w="15875">
            <a:solidFill>
              <a:srgbClr val="C3C8EA"/>
            </a:solidFill>
            <a:prstDash val="solid"/>
          </a:ln>
          <a:effectLst>
            <a:outerShdw blurRad="165100" dist="38100" dir="5400000" algn="bl" rotWithShape="0">
              <a:srgbClr val="8A90C8">
                <a:alpha val="32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9" name="Text 7"/>
          <p:cNvSpPr/>
          <p:nvPr/>
        </p:nvSpPr>
        <p:spPr>
          <a:xfrm>
            <a:off x="4800600" y="149961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46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shows up in practice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28032" y="1883664"/>
            <a:ext cx="3611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 algn="l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queue up waiting for manual review and routing</a:t>
            </a:r>
            <a:endParaRPr lang="en-US" sz="1200" dirty="0"/>
          </a:p>
          <a:p>
            <a:pPr marL="177800" indent="-177800" algn="l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Misrouted tickets bounce between teams before reaching an owner</a:t>
            </a:r>
            <a:endParaRPr lang="en-US" sz="1200" dirty="0"/>
          </a:p>
          <a:p>
            <a:pPr marL="177800" indent="-177800" algn="l">
              <a:buSzPct val="100000"/>
              <a:buChar char="•"/>
            </a:pPr>
            <a:r>
              <a:rPr lang="en-US" sz="12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depends on a few experts - a single point of failure</a:t>
            </a:r>
            <a:endParaRPr lang="en-US" sz="1200" dirty="0"/>
          </a:p>
        </p:txBody>
      </p:sp>
      <p:sp>
        <p:nvSpPr>
          <p:cNvPr id="11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26280" y="3246120"/>
            <a:ext cx="4069080" cy="1417320"/>
          </a:xfrm>
          <a:prstGeom prst="roundRect">
            <a:avLst>
              <a:gd name="adj" fmla="val 3871"/>
            </a:avLst>
          </a:prstGeom>
          <a:solidFill>
            <a:srgbClr val="312E81"/>
          </a:solidFill>
          <a:ln w="15875">
            <a:solidFill>
              <a:srgbClr val="3B3A7A"/>
            </a:solidFill>
            <a:prstDash val="solid"/>
          </a:ln>
          <a:effectLst>
            <a:outerShdw blurRad="165100" dist="38100" dir="5400000" algn="bl" rotWithShape="0">
              <a:srgbClr val="8A90C8">
                <a:alpha val="32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2" name="Text 10"/>
          <p:cNvSpPr/>
          <p:nvPr/>
        </p:nvSpPr>
        <p:spPr>
          <a:xfrm>
            <a:off x="4800600" y="33649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it matters - value &amp; ROI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28032" y="3675888"/>
            <a:ext cx="3611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 algn="l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5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resolution → shorter, more predictable release cycles</a:t>
            </a:r>
            <a:endParaRPr lang="en-US" sz="1200" dirty="0"/>
          </a:p>
          <a:p>
            <a:pPr marL="177800" indent="-177800" algn="l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5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senior-engineer time lost to manual sorting</a:t>
            </a:r>
            <a:endParaRPr lang="en-US" sz="1200" dirty="0"/>
          </a:p>
          <a:p>
            <a:pPr marL="177800" indent="-177800" algn="l">
              <a:buSzPct val="100000"/>
              <a:buChar char="•"/>
            </a:pPr>
            <a:r>
              <a:rPr lang="en-US" sz="1200" dirty="0">
                <a:solidFill>
                  <a:srgbClr val="E5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misassignments → lower rework and support cost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SOLUTION</a:t>
            </a:r>
            <a:endParaRPr lang="en-US" sz="115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BugTriageAI does</a:t>
            </a:r>
            <a:endParaRPr lang="en-US" sz="3000" dirty="0"/>
          </a:p>
        </p:txBody>
      </p:sp>
      <p:sp>
        <p:nvSpPr>
          <p:cNvPr id="4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417320"/>
            <a:ext cx="2084832" cy="1572768"/>
          </a:xfrm>
          <a:prstGeom prst="roundRect">
            <a:avLst>
              <a:gd name="adj" fmla="val 3488"/>
            </a:avLst>
          </a:prstGeom>
          <a:solidFill>
            <a:srgbClr val="F6F7FD"/>
          </a:solidFill>
          <a:ln w="15875">
            <a:solidFill>
              <a:srgbClr val="C3C8EA"/>
            </a:solidFill>
            <a:prstDash val="solid"/>
          </a:ln>
          <a:effectLst>
            <a:outerShdw blurRad="165100" dist="38100" dir="5400000" algn="bl" rotWithShape="0">
              <a:srgbClr val="8A90C8">
                <a:alpha val="32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5" name="ba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8096" y="1636776"/>
            <a:ext cx="402336" cy="402336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768096" y="16367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72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72" dirty="0"/>
          </a:p>
        </p:txBody>
      </p:sp>
      <p:sp>
        <p:nvSpPr>
          <p:cNvPr id="7" name="Text 5"/>
          <p:cNvSpPr/>
          <p:nvPr/>
        </p:nvSpPr>
        <p:spPr>
          <a:xfrm>
            <a:off x="1298448" y="1655064"/>
            <a:ext cx="1216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46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Ingests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68096" y="2103120"/>
            <a:ext cx="179222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every new bug report - title, description, logs and metadata - the moment it lands.</a:t>
            </a:r>
            <a:endParaRPr lang="en-US" sz="1150" dirty="0"/>
          </a:p>
        </p:txBody>
      </p:sp>
      <p:sp>
        <p:nvSpPr>
          <p:cNvPr id="9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61488" y="1417320"/>
            <a:ext cx="2084832" cy="1572768"/>
          </a:xfrm>
          <a:prstGeom prst="roundRect">
            <a:avLst>
              <a:gd name="adj" fmla="val 3488"/>
            </a:avLst>
          </a:prstGeom>
          <a:solidFill>
            <a:srgbClr val="F6F7FD"/>
          </a:solidFill>
          <a:ln w="15875">
            <a:solidFill>
              <a:srgbClr val="C3C8EA"/>
            </a:solidFill>
            <a:prstDash val="solid"/>
          </a:ln>
          <a:effectLst>
            <a:outerShdw blurRad="165100" dist="38100" dir="5400000" algn="bl" rotWithShape="0">
              <a:srgbClr val="8A90C8">
                <a:alpha val="32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0" name="ba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980944" y="1636776"/>
            <a:ext cx="402336" cy="402336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1" name="Text 9"/>
          <p:cNvSpPr/>
          <p:nvPr/>
        </p:nvSpPr>
        <p:spPr>
          <a:xfrm>
            <a:off x="2980944" y="16367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72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72" dirty="0"/>
          </a:p>
        </p:txBody>
      </p:sp>
      <p:sp>
        <p:nvSpPr>
          <p:cNvPr id="12" name="Text 10"/>
          <p:cNvSpPr/>
          <p:nvPr/>
        </p:nvSpPr>
        <p:spPr>
          <a:xfrm>
            <a:off x="3511296" y="1655064"/>
            <a:ext cx="1216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46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Classifies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980944" y="2130552"/>
            <a:ext cx="166420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each bug by component, type and severity using trained ML models.</a:t>
            </a:r>
            <a:endParaRPr lang="en-US" sz="1150" dirty="0"/>
          </a:p>
        </p:txBody>
      </p:sp>
      <p:sp>
        <p:nvSpPr>
          <p:cNvPr id="14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063240"/>
            <a:ext cx="2084832" cy="1572768"/>
          </a:xfrm>
          <a:prstGeom prst="roundRect">
            <a:avLst>
              <a:gd name="adj" fmla="val 3488"/>
            </a:avLst>
          </a:prstGeom>
          <a:solidFill>
            <a:srgbClr val="F6F7FD"/>
          </a:solidFill>
          <a:ln w="15875">
            <a:solidFill>
              <a:srgbClr val="C3C8EA"/>
            </a:solidFill>
            <a:prstDash val="solid"/>
          </a:ln>
          <a:effectLst>
            <a:outerShdw blurRad="165100" dist="38100" dir="5400000" algn="bl" rotWithShape="0">
              <a:srgbClr val="8A90C8">
                <a:alpha val="32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5" name="ba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8096" y="3282696"/>
            <a:ext cx="402336" cy="402336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6" name="Text 14"/>
          <p:cNvSpPr/>
          <p:nvPr/>
        </p:nvSpPr>
        <p:spPr>
          <a:xfrm>
            <a:off x="768096" y="32826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72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72" dirty="0"/>
          </a:p>
        </p:txBody>
      </p:sp>
      <p:sp>
        <p:nvSpPr>
          <p:cNvPr id="17" name="Text 15"/>
          <p:cNvSpPr/>
          <p:nvPr/>
        </p:nvSpPr>
        <p:spPr>
          <a:xfrm>
            <a:off x="1298448" y="3300984"/>
            <a:ext cx="1216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46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Assigns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68096" y="3776472"/>
            <a:ext cx="166420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the best-fit team or developer and routes the ticket automatically.</a:t>
            </a:r>
            <a:endParaRPr lang="en-US" sz="1150" dirty="0"/>
          </a:p>
        </p:txBody>
      </p:sp>
      <p:sp>
        <p:nvSpPr>
          <p:cNvPr id="19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61488" y="3063240"/>
            <a:ext cx="2084832" cy="1572768"/>
          </a:xfrm>
          <a:prstGeom prst="roundRect">
            <a:avLst>
              <a:gd name="adj" fmla="val 3488"/>
            </a:avLst>
          </a:prstGeom>
          <a:solidFill>
            <a:srgbClr val="F6F7FD"/>
          </a:solidFill>
          <a:ln w="15875">
            <a:solidFill>
              <a:srgbClr val="C3C8EA"/>
            </a:solidFill>
            <a:prstDash val="solid"/>
          </a:ln>
          <a:effectLst>
            <a:outerShdw blurRad="165100" dist="38100" dir="5400000" algn="bl" rotWithShape="0">
              <a:srgbClr val="8A90C8">
                <a:alpha val="32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0" name="ba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980944" y="3282696"/>
            <a:ext cx="402336" cy="402336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1" name="Text 19"/>
          <p:cNvSpPr/>
          <p:nvPr/>
        </p:nvSpPr>
        <p:spPr>
          <a:xfrm>
            <a:off x="2980944" y="32826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72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72" dirty="0"/>
          </a:p>
        </p:txBody>
      </p:sp>
      <p:sp>
        <p:nvSpPr>
          <p:cNvPr id="22" name="Text 20"/>
          <p:cNvSpPr/>
          <p:nvPr/>
        </p:nvSpPr>
        <p:spPr>
          <a:xfrm>
            <a:off x="3511296" y="3300984"/>
            <a:ext cx="1216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46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Prioritizes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2980944" y="3776472"/>
            <a:ext cx="166420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the queue so the highest-impact issues surface first.</a:t>
            </a:r>
            <a:endParaRPr lang="en-US" sz="1150" dirty="0"/>
          </a:p>
        </p:txBody>
      </p:sp>
      <p:sp>
        <p:nvSpPr>
          <p:cNvPr id="24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0" y="1417320"/>
            <a:ext cx="3566160" cy="3218688"/>
          </a:xfrm>
          <a:prstGeom prst="roundRect">
            <a:avLst>
              <a:gd name="adj" fmla="val 1705"/>
            </a:avLst>
          </a:prstGeom>
          <a:solidFill>
            <a:srgbClr val="201C55"/>
          </a:solidFill>
          <a:ln w="15875">
            <a:solidFill>
              <a:srgbClr val="3B3A7A"/>
            </a:solidFill>
            <a:prstDash val="solid"/>
          </a:ln>
          <a:effectLst>
            <a:outerShdw blurRad="165100" dist="38100" dir="5400000" algn="bl" rotWithShape="0">
              <a:srgbClr val="8A90C8">
                <a:alpha val="32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pic>
        <p:nvPicPr>
          <p:cNvPr id="25" name="Image 0"/>
          <p:cNvPicPr>
            <a:picLocks noChangeAspect="1"/>
          </p:cNvPicPr>
          <p:nvPr/>
        </p:nvPicPr>
        <p:blipFill>
          <a:blip r:embed="rId3"/>
          <a:srcRect t="1844" b="1844"/>
          <a:stretch/>
        </p:blipFill>
        <p:spPr>
          <a:xfrm>
            <a:off x="5138928" y="1527048"/>
            <a:ext cx="3346704" cy="214884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5257800" y="376732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noisy backlog to sorted, owned work</a:t>
            </a:r>
            <a:endParaRPr lang="en-US" sz="1450" dirty="0"/>
          </a:p>
        </p:txBody>
      </p:sp>
      <p:sp>
        <p:nvSpPr>
          <p:cNvPr id="27" name="Text 24"/>
          <p:cNvSpPr/>
          <p:nvPr/>
        </p:nvSpPr>
        <p:spPr>
          <a:xfrm>
            <a:off x="5257800" y="41605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4C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replaces slow, manual routing with instant, consistent, data-driven assignment.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 DIAGRAM</a:t>
            </a:r>
            <a:endParaRPr lang="en-US" sz="115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works, end to end</a:t>
            </a:r>
            <a:endParaRPr lang="en-US" sz="3000" dirty="0"/>
          </a:p>
        </p:txBody>
      </p:sp>
      <p:sp>
        <p:nvSpPr>
          <p:cNvPr id="4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417320"/>
            <a:ext cx="2542032" cy="1965960"/>
          </a:xfrm>
          <a:prstGeom prst="roundRect">
            <a:avLst>
              <a:gd name="adj" fmla="val 2791"/>
            </a:avLst>
          </a:prstGeom>
          <a:solidFill>
            <a:srgbClr val="F6F7FD"/>
          </a:solidFill>
          <a:ln w="15875">
            <a:solidFill>
              <a:srgbClr val="C3C8EA"/>
            </a:solidFill>
            <a:prstDash val="solid"/>
          </a:ln>
          <a:effectLst>
            <a:outerShdw blurRad="165100" dist="38100" dir="5400000" algn="bl" rotWithShape="0">
              <a:srgbClr val="8A90C8">
                <a:alpha val="32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768096" y="163677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68096" y="2167128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F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sources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68096" y="2569464"/>
            <a:ext cx="21214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tracker (Jira / GitHub Issues), stack traces, logs and ticket metadata.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035808" y="1920240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6B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4000" dirty="0"/>
          </a:p>
        </p:txBody>
      </p:sp>
      <p:sp>
        <p:nvSpPr>
          <p:cNvPr id="9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00984" y="1417320"/>
            <a:ext cx="2542032" cy="1965960"/>
          </a:xfrm>
          <a:prstGeom prst="roundRect">
            <a:avLst>
              <a:gd name="adj" fmla="val 2791"/>
            </a:avLst>
          </a:prstGeom>
          <a:solidFill>
            <a:srgbClr val="F6F7FD"/>
          </a:solidFill>
          <a:ln w="15875">
            <a:solidFill>
              <a:srgbClr val="C3C8EA"/>
            </a:solidFill>
            <a:prstDash val="solid"/>
          </a:ln>
          <a:effectLst>
            <a:outerShdw blurRad="165100" dist="38100" dir="5400000" algn="bl" rotWithShape="0">
              <a:srgbClr val="8A90C8">
                <a:alpha val="32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0" name="Text 8"/>
          <p:cNvSpPr/>
          <p:nvPr/>
        </p:nvSpPr>
        <p:spPr>
          <a:xfrm>
            <a:off x="3520440" y="163677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20440" y="2167128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F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Processing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520440" y="2569464"/>
            <a:ext cx="21214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is embedded, then ML models predict component, severity and best-fit owner.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788152" y="1920240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6B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4000" dirty="0"/>
          </a:p>
        </p:txBody>
      </p:sp>
      <p:sp>
        <p:nvSpPr>
          <p:cNvPr id="14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53328" y="1417320"/>
            <a:ext cx="2542032" cy="1965960"/>
          </a:xfrm>
          <a:prstGeom prst="roundRect">
            <a:avLst>
              <a:gd name="adj" fmla="val 2791"/>
            </a:avLst>
          </a:prstGeom>
          <a:solidFill>
            <a:srgbClr val="F6F7FD"/>
          </a:solidFill>
          <a:ln w="15875">
            <a:solidFill>
              <a:srgbClr val="C3C8EA"/>
            </a:solidFill>
            <a:prstDash val="solid"/>
          </a:ln>
          <a:effectLst>
            <a:outerShdw blurRad="165100" dist="38100" dir="5400000" algn="bl" rotWithShape="0">
              <a:srgbClr val="8A90C8">
                <a:alpha val="32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5" name="Text 13"/>
          <p:cNvSpPr/>
          <p:nvPr/>
        </p:nvSpPr>
        <p:spPr>
          <a:xfrm>
            <a:off x="6272784" y="163677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72784" y="2167128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F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Insights &amp; routing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272784" y="2569464"/>
            <a:ext cx="21214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Auto-assigned, prioritized tickets plus dashboards for the team.</a:t>
            </a:r>
            <a:endParaRPr lang="en-US" sz="1200" dirty="0"/>
          </a:p>
        </p:txBody>
      </p:sp>
      <p:sp>
        <p:nvSpPr>
          <p:cNvPr id="18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730752"/>
            <a:ext cx="8046720" cy="932688"/>
          </a:xfrm>
          <a:prstGeom prst="roundRect">
            <a:avLst>
              <a:gd name="adj" fmla="val 5882"/>
            </a:avLst>
          </a:prstGeom>
          <a:solidFill>
            <a:srgbClr val="312E81"/>
          </a:solidFill>
          <a:ln w="15875">
            <a:solidFill>
              <a:srgbClr val="3B3A7A"/>
            </a:solidFill>
            <a:prstDash val="solid"/>
          </a:ln>
          <a:effectLst>
            <a:outerShdw blurRad="165100" dist="38100" dir="5400000" algn="bl" rotWithShape="0">
              <a:srgbClr val="8A90C8">
                <a:alpha val="32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9" name="Text 17"/>
          <p:cNvSpPr/>
          <p:nvPr/>
        </p:nvSpPr>
        <p:spPr>
          <a:xfrm>
            <a:off x="777240" y="3840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 the hood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" y="4142232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E5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text is vectorized with transformer / TF-IDF embeddings; a fine-tuned classifier predicts component and severity, and a matching model ranks candidate owners by fit and load.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IT TAKES TO RUN</a:t>
            </a:r>
            <a:endParaRPr lang="en-US" sz="115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needed to run it</a:t>
            </a:r>
            <a:endParaRPr lang="en-US" sz="3000" dirty="0"/>
          </a:p>
        </p:txBody>
      </p:sp>
      <p:sp>
        <p:nvSpPr>
          <p:cNvPr id="4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371600"/>
            <a:ext cx="2606040" cy="3063240"/>
          </a:xfrm>
          <a:prstGeom prst="roundRect">
            <a:avLst>
              <a:gd name="adj" fmla="val 2105"/>
            </a:avLst>
          </a:prstGeom>
          <a:solidFill>
            <a:srgbClr val="F6F7FD"/>
          </a:solidFill>
          <a:ln w="15875">
            <a:solidFill>
              <a:srgbClr val="C3C8EA"/>
            </a:solidFill>
            <a:prstDash val="solid"/>
          </a:ln>
          <a:effectLst>
            <a:outerShdw blurRad="165100" dist="38100" dir="5400000" algn="bl" rotWithShape="0">
              <a:srgbClr val="8A90C8">
                <a:alpha val="32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5" name="ba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6384" y="1627632"/>
            <a:ext cx="310896" cy="310896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786384" y="1627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92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92" dirty="0"/>
          </a:p>
        </p:txBody>
      </p:sp>
      <p:sp>
        <p:nvSpPr>
          <p:cNvPr id="7" name="Text 5"/>
          <p:cNvSpPr/>
          <p:nvPr/>
        </p:nvSpPr>
        <p:spPr>
          <a:xfrm>
            <a:off x="1207008" y="159105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4F46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it needs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86384" y="2240280"/>
            <a:ext cx="21488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l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labeled bug data for training</a:t>
            </a:r>
            <a:endParaRPr lang="en-US" sz="1250" dirty="0"/>
          </a:p>
          <a:p>
            <a:pPr marL="177800" indent="-177800" algn="l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feed of incoming bug reports</a:t>
            </a:r>
            <a:endParaRPr lang="en-US" sz="1250" dirty="0"/>
          </a:p>
          <a:p>
            <a:pPr marL="177800" indent="-177800" algn="l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component ownership map</a:t>
            </a:r>
            <a:endParaRPr lang="en-US" sz="1250" dirty="0"/>
          </a:p>
        </p:txBody>
      </p:sp>
      <p:sp>
        <p:nvSpPr>
          <p:cNvPr id="9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68980" y="1371600"/>
            <a:ext cx="2606040" cy="3063240"/>
          </a:xfrm>
          <a:prstGeom prst="roundRect">
            <a:avLst>
              <a:gd name="adj" fmla="val 2105"/>
            </a:avLst>
          </a:prstGeom>
          <a:solidFill>
            <a:srgbClr val="F6F7FD"/>
          </a:solidFill>
          <a:ln w="15875">
            <a:solidFill>
              <a:srgbClr val="C3C8EA"/>
            </a:solidFill>
            <a:prstDash val="solid"/>
          </a:ln>
          <a:effectLst>
            <a:outerShdw blurRad="165100" dist="38100" dir="5400000" algn="bl" rotWithShape="0">
              <a:srgbClr val="8A90C8">
                <a:alpha val="32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0" name="ba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506724" y="1627632"/>
            <a:ext cx="310896" cy="310896"/>
          </a:xfrm>
          <a:prstGeom prst="ellipse">
            <a:avLst/>
          </a:prstGeom>
          <a:solidFill>
            <a:srgbClr val="312E81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1" name="Text 9"/>
          <p:cNvSpPr/>
          <p:nvPr/>
        </p:nvSpPr>
        <p:spPr>
          <a:xfrm>
            <a:off x="3506724" y="1627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92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92" dirty="0"/>
          </a:p>
        </p:txBody>
      </p:sp>
      <p:sp>
        <p:nvSpPr>
          <p:cNvPr id="12" name="Text 10"/>
          <p:cNvSpPr/>
          <p:nvPr/>
        </p:nvSpPr>
        <p:spPr>
          <a:xfrm>
            <a:off x="3927348" y="159105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312E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Activation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506724" y="2240280"/>
            <a:ext cx="21488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l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read access to the bug tracker</a:t>
            </a:r>
            <a:endParaRPr lang="en-US" sz="1250" dirty="0"/>
          </a:p>
          <a:p>
            <a:pPr marL="177800" indent="-177800" algn="l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trained, validated model in place</a:t>
            </a:r>
            <a:endParaRPr lang="en-US" sz="1250" dirty="0"/>
          </a:p>
          <a:p>
            <a:pPr marL="177800" indent="-177800" algn="l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hook for auto-assignment</a:t>
            </a:r>
            <a:endParaRPr lang="en-US" sz="1250" dirty="0"/>
          </a:p>
        </p:txBody>
      </p:sp>
      <p:sp>
        <p:nvSpPr>
          <p:cNvPr id="14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89320" y="1371600"/>
            <a:ext cx="2606040" cy="3063240"/>
          </a:xfrm>
          <a:prstGeom prst="roundRect">
            <a:avLst>
              <a:gd name="adj" fmla="val 2105"/>
            </a:avLst>
          </a:prstGeom>
          <a:solidFill>
            <a:srgbClr val="F6F7FD"/>
          </a:solidFill>
          <a:ln w="15875">
            <a:solidFill>
              <a:srgbClr val="C3C8EA"/>
            </a:solidFill>
            <a:prstDash val="solid"/>
          </a:ln>
          <a:effectLst>
            <a:outerShdw blurRad="165100" dist="38100" dir="5400000" algn="bl" rotWithShape="0">
              <a:srgbClr val="8A90C8">
                <a:alpha val="32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5" name="ba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27064" y="1627632"/>
            <a:ext cx="310896" cy="310896"/>
          </a:xfrm>
          <a:prstGeom prst="ellipse">
            <a:avLst/>
          </a:prstGeom>
          <a:solidFill>
            <a:srgbClr val="FF6B5C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6" name="Text 14"/>
          <p:cNvSpPr/>
          <p:nvPr/>
        </p:nvSpPr>
        <p:spPr>
          <a:xfrm>
            <a:off x="6227064" y="1627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92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92" dirty="0"/>
          </a:p>
        </p:txBody>
      </p:sp>
      <p:sp>
        <p:nvSpPr>
          <p:cNvPr id="17" name="Text 15"/>
          <p:cNvSpPr/>
          <p:nvPr/>
        </p:nvSpPr>
        <p:spPr>
          <a:xfrm>
            <a:off x="6647688" y="159105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6B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runs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227064" y="2240280"/>
            <a:ext cx="21488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l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Ongoing: scores every new bug in real time</a:t>
            </a:r>
            <a:endParaRPr lang="en-US" sz="1250" dirty="0"/>
          </a:p>
          <a:p>
            <a:pPr marL="177800" indent="-177800" algn="l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retraining (e.g. monthly)</a:t>
            </a:r>
            <a:endParaRPr lang="en-US" sz="1250" dirty="0"/>
          </a:p>
          <a:p>
            <a:pPr marL="177800" indent="-177800" algn="l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override always available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 OBTAINED</a:t>
            </a:r>
            <a:endParaRPr lang="en-US" sz="115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 &amp; key metrics</a:t>
            </a:r>
            <a:endParaRPr lang="en-US" sz="3000" dirty="0"/>
          </a:p>
        </p:txBody>
      </p:sp>
      <p:sp>
        <p:nvSpPr>
          <p:cNvPr id="4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417320"/>
            <a:ext cx="4892040" cy="2971800"/>
          </a:xfrm>
          <a:prstGeom prst="roundRect">
            <a:avLst>
              <a:gd name="adj" fmla="val 1846"/>
            </a:avLst>
          </a:prstGeom>
          <a:solidFill>
            <a:srgbClr val="FFFFFF"/>
          </a:solidFill>
          <a:ln w="15875">
            <a:solidFill>
              <a:srgbClr val="C3C8EA"/>
            </a:solidFill>
            <a:prstDash val="solid"/>
          </a:ln>
          <a:effectLst>
            <a:outerShdw blurRad="165100" dist="38100" dir="5400000" algn="bl" rotWithShape="0">
              <a:srgbClr val="8A90C8">
                <a:alpha val="32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777240" y="153619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Accuracy vs. manual baseline</a:t>
            </a:r>
            <a:endParaRPr lang="en-US" sz="1350" dirty="0"/>
          </a:p>
        </p:txBody>
      </p:sp>
      <p:graphicFrame>
        <p:nvGraphicFramePr>
          <p:cNvPr id="6" name="Accuracy chart" descr="Grouped bar chart comparing manual baseline vs BugTriageAI: routing 62 vs 88%, severity 68 vs 90%, component 65 vs 87%."/>
          <p:cNvGraphicFramePr/>
          <p:nvPr/>
        </p:nvGraphicFramePr>
        <p:xfrm>
          <a:off x="640080" y="1874520"/>
          <a:ext cx="470916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23560" y="1417320"/>
            <a:ext cx="2971800" cy="914400"/>
          </a:xfrm>
          <a:prstGeom prst="roundRect">
            <a:avLst>
              <a:gd name="adj" fmla="val 6000"/>
            </a:avLst>
          </a:prstGeom>
          <a:solidFill>
            <a:srgbClr val="F6F7FD"/>
          </a:solidFill>
          <a:ln w="15875">
            <a:solidFill>
              <a:srgbClr val="C3C8EA"/>
            </a:solidFill>
            <a:prstDash val="solid"/>
          </a:ln>
          <a:effectLst>
            <a:outerShdw blurRad="165100" dist="38100" dir="5400000" algn="bl" rotWithShape="0">
              <a:srgbClr val="8A90C8">
                <a:alpha val="32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8" name="Text 5"/>
          <p:cNvSpPr/>
          <p:nvPr/>
        </p:nvSpPr>
        <p:spPr>
          <a:xfrm>
            <a:off x="5824728" y="1527048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4F46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 min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7223760" y="1527048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time-to-assignment</a:t>
            </a:r>
            <a:endParaRPr lang="en-US" sz="115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 from 6.5 hrs</a:t>
            </a:r>
            <a:endParaRPr lang="en-US" sz="1150" dirty="0"/>
          </a:p>
        </p:txBody>
      </p:sp>
      <p:sp>
        <p:nvSpPr>
          <p:cNvPr id="10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23560" y="2432304"/>
            <a:ext cx="2971800" cy="914400"/>
          </a:xfrm>
          <a:prstGeom prst="roundRect">
            <a:avLst>
              <a:gd name="adj" fmla="val 6000"/>
            </a:avLst>
          </a:prstGeom>
          <a:solidFill>
            <a:srgbClr val="F6F7FD"/>
          </a:solidFill>
          <a:ln w="15875">
            <a:solidFill>
              <a:srgbClr val="C3C8EA"/>
            </a:solidFill>
            <a:prstDash val="solid"/>
          </a:ln>
          <a:effectLst>
            <a:outerShdw blurRad="165100" dist="38100" dir="5400000" algn="bl" rotWithShape="0">
              <a:srgbClr val="8A90C8">
                <a:alpha val="32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1" name="Text 8"/>
          <p:cNvSpPr/>
          <p:nvPr/>
        </p:nvSpPr>
        <p:spPr>
          <a:xfrm>
            <a:off x="5824728" y="2542032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6B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9%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7223760" y="2542032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reassignment rate</a:t>
            </a:r>
            <a:endParaRPr lang="en-US" sz="115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 from 24%</a:t>
            </a:r>
            <a:endParaRPr lang="en-US" sz="1150" dirty="0"/>
          </a:p>
        </p:txBody>
      </p:sp>
      <p:sp>
        <p:nvSpPr>
          <p:cNvPr id="13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23560" y="3447288"/>
            <a:ext cx="2971800" cy="914400"/>
          </a:xfrm>
          <a:prstGeom prst="roundRect">
            <a:avLst>
              <a:gd name="adj" fmla="val 6000"/>
            </a:avLst>
          </a:prstGeom>
          <a:solidFill>
            <a:srgbClr val="F6F7FD"/>
          </a:solidFill>
          <a:ln w="15875">
            <a:solidFill>
              <a:srgbClr val="C3C8EA"/>
            </a:solidFill>
            <a:prstDash val="solid"/>
          </a:ln>
          <a:effectLst>
            <a:outerShdw blurRad="165100" dist="38100" dir="5400000" algn="bl" rotWithShape="0">
              <a:srgbClr val="8A90C8">
                <a:alpha val="32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4" name="Text 11"/>
          <p:cNvSpPr/>
          <p:nvPr/>
        </p:nvSpPr>
        <p:spPr>
          <a:xfrm>
            <a:off x="5824728" y="3557016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9D7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~70%</a:t>
            </a:r>
            <a:endParaRPr lang="en-US" sz="3200" dirty="0"/>
          </a:p>
        </p:txBody>
      </p:sp>
      <p:sp>
        <p:nvSpPr>
          <p:cNvPr id="15" name="Text 12"/>
          <p:cNvSpPr/>
          <p:nvPr/>
        </p:nvSpPr>
        <p:spPr>
          <a:xfrm>
            <a:off x="7223760" y="3557016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manual triage time</a:t>
            </a:r>
            <a:endParaRPr lang="en-US" sz="115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freed for engineering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48640" y="449884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results from initial offline evaluation - replace with your production figures.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&amp; LIVE DEMO</a:t>
            </a:r>
            <a:endParaRPr lang="en-US" sz="115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product in action</a:t>
            </a:r>
            <a:endParaRPr lang="en-US" sz="3000" dirty="0"/>
          </a:p>
        </p:txBody>
      </p:sp>
      <p:sp>
        <p:nvSpPr>
          <p:cNvPr id="4" name="wind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417320"/>
            <a:ext cx="59893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3F5"/>
            </a:solidFill>
            <a:prstDash val="solid"/>
          </a:ln>
          <a:effectLst>
            <a:outerShdw blurRad="165100" dist="38100" dir="5400000" algn="bl" rotWithShape="0">
              <a:srgbClr val="8A90C8">
                <a:alpha val="32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5" name="window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417320"/>
            <a:ext cx="5989320" cy="420624"/>
          </a:xfrm>
          <a:prstGeom prst="rect">
            <a:avLst/>
          </a:prstGeom>
          <a:solidFill>
            <a:srgbClr val="312E81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6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232" y="1572768"/>
            <a:ext cx="109728" cy="109728"/>
          </a:xfrm>
          <a:prstGeom prst="ellipse">
            <a:avLst/>
          </a:prstGeom>
          <a:solidFill>
            <a:srgbClr val="FF6B5C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7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1572768"/>
            <a:ext cx="109728" cy="109728"/>
          </a:xfrm>
          <a:prstGeom prst="ellipse">
            <a:avLst/>
          </a:prstGeom>
          <a:solidFill>
            <a:srgbClr val="E0952B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8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15568" y="1572768"/>
            <a:ext cx="109728" cy="109728"/>
          </a:xfrm>
          <a:prstGeom prst="ellipse">
            <a:avLst/>
          </a:prstGeom>
          <a:solidFill>
            <a:srgbClr val="0F9D7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9" name="Text 7"/>
          <p:cNvSpPr/>
          <p:nvPr/>
        </p:nvSpPr>
        <p:spPr>
          <a:xfrm>
            <a:off x="1417320" y="1417320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9D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BugTriageAI  ·  Triage Queue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" y="1956816"/>
          <a:ext cx="5394960" cy="2322576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Bug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1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1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1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Assigned 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1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1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4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#4821  Login timeout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1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1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6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1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 Rivera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1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1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4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#4822  Chart mis-render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1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1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E095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1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J. Okafor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1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1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4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#4823  CSV export fails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1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Data-Export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1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6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1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M. Lindqvist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1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1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4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#4824  Typo on settings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1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1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F9D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1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S. Park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1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1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4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#4825  Slow search API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1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1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E095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1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D. Costa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1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1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12280" y="1417320"/>
            <a:ext cx="1783080" cy="3108960"/>
          </a:xfrm>
          <a:prstGeom prst="roundRect">
            <a:avLst>
              <a:gd name="adj" fmla="val 3077"/>
            </a:avLst>
          </a:prstGeom>
          <a:solidFill>
            <a:srgbClr val="312E81"/>
          </a:solidFill>
          <a:ln w="15875">
            <a:solidFill>
              <a:srgbClr val="3B3A7A"/>
            </a:solidFill>
            <a:prstDash val="solid"/>
          </a:ln>
          <a:effectLst>
            <a:outerShdw blurRad="165100" dist="38100" dir="5400000" algn="bl" rotWithShape="0">
              <a:srgbClr val="8A90C8">
                <a:alpha val="32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2" name="Text 9"/>
          <p:cNvSpPr/>
          <p:nvPr/>
        </p:nvSpPr>
        <p:spPr>
          <a:xfrm>
            <a:off x="6995160" y="157276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Today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995160" y="193852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128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6995160" y="230428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4C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triaged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995160" y="25603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91%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6995160" y="29260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4C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auto-assigned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995160" y="318211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0.92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6995160" y="354787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4C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confidence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995160" y="380390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 min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6995160" y="416966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4C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to owner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548640" y="4645152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incoming bug is scored, labeled and routed in seconds - with a confidence score and one-click human override.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ADVANTAGES &amp; CHALLENGES</a:t>
            </a:r>
            <a:endParaRPr lang="en-US" sz="115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Strengths, limits &amp; what's next</a:t>
            </a:r>
            <a:endParaRPr lang="en-US" sz="3000" dirty="0"/>
          </a:p>
        </p:txBody>
      </p:sp>
      <p:sp>
        <p:nvSpPr>
          <p:cNvPr id="4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417320"/>
            <a:ext cx="4023360" cy="2148840"/>
          </a:xfrm>
          <a:prstGeom prst="roundRect">
            <a:avLst>
              <a:gd name="adj" fmla="val 2553"/>
            </a:avLst>
          </a:prstGeom>
          <a:solidFill>
            <a:srgbClr val="D1EDE0"/>
          </a:solidFill>
          <a:ln w="15875">
            <a:solidFill>
              <a:srgbClr val="C3C8EA"/>
            </a:solidFill>
            <a:prstDash val="solid"/>
          </a:ln>
          <a:effectLst>
            <a:outerShdw blurRad="165100" dist="38100" dir="5400000" algn="bl" rotWithShape="0">
              <a:srgbClr val="8A90C8">
                <a:alpha val="32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777240" y="1554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9D7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advantages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04672" y="1920240"/>
            <a:ext cx="3657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 algn="l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Instant, consistent triage - around the clock</a:t>
            </a:r>
            <a:endParaRPr lang="en-US" sz="1250" dirty="0"/>
          </a:p>
          <a:p>
            <a:pPr marL="177800" indent="-177800" algn="l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Frees senior engineers from manual routing</a:t>
            </a:r>
            <a:endParaRPr lang="en-US" sz="1250" dirty="0"/>
          </a:p>
          <a:p>
            <a:pPr marL="177800" indent="-177800" algn="l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history and improves over time</a:t>
            </a:r>
            <a:endParaRPr lang="en-US" sz="1250" dirty="0"/>
          </a:p>
          <a:p>
            <a:pPr marL="177800" indent="-177800" algn="l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confidence scores keep humans in control</a:t>
            </a:r>
            <a:endParaRPr lang="en-US" sz="1250" dirty="0"/>
          </a:p>
        </p:txBody>
      </p:sp>
      <p:sp>
        <p:nvSpPr>
          <p:cNvPr id="7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0" y="1417320"/>
            <a:ext cx="4023360" cy="2148840"/>
          </a:xfrm>
          <a:prstGeom prst="roundRect">
            <a:avLst>
              <a:gd name="adj" fmla="val 2553"/>
            </a:avLst>
          </a:prstGeom>
          <a:solidFill>
            <a:srgbClr val="FBD7CF"/>
          </a:solidFill>
          <a:ln w="15875">
            <a:solidFill>
              <a:srgbClr val="C3C8EA"/>
            </a:solidFill>
            <a:prstDash val="solid"/>
          </a:ln>
          <a:effectLst>
            <a:outerShdw blurRad="165100" dist="38100" dir="5400000" algn="bl" rotWithShape="0">
              <a:srgbClr val="8A90C8">
                <a:alpha val="32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/>
          <p:nvPr/>
        </p:nvSpPr>
        <p:spPr>
          <a:xfrm>
            <a:off x="4800600" y="1554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6B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Current limitations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28032" y="1920240"/>
            <a:ext cx="3657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 algn="l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enough labeled history to train well</a:t>
            </a:r>
            <a:endParaRPr lang="en-US" sz="1250" dirty="0"/>
          </a:p>
          <a:p>
            <a:pPr marL="177800" indent="-177800" algn="l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dips on brand-new components</a:t>
            </a:r>
            <a:endParaRPr lang="en-US" sz="1250" dirty="0"/>
          </a:p>
          <a:p>
            <a:pPr marL="177800" indent="-177800" algn="l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or edge-case bugs still need human review</a:t>
            </a:r>
            <a:endParaRPr lang="en-US" sz="1250" dirty="0"/>
          </a:p>
          <a:p>
            <a:pPr marL="177800" indent="-177800" algn="l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monitoring to guard against drift</a:t>
            </a:r>
            <a:endParaRPr lang="en-US" sz="1250" dirty="0"/>
          </a:p>
        </p:txBody>
      </p:sp>
      <p:sp>
        <p:nvSpPr>
          <p:cNvPr id="10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703320"/>
            <a:ext cx="8046720" cy="960120"/>
          </a:xfrm>
          <a:prstGeom prst="roundRect">
            <a:avLst>
              <a:gd name="adj" fmla="val 5714"/>
            </a:avLst>
          </a:prstGeom>
          <a:solidFill>
            <a:srgbClr val="312E81"/>
          </a:solidFill>
          <a:ln w="15875">
            <a:solidFill>
              <a:srgbClr val="3B3A7A"/>
            </a:solidFill>
            <a:prstDash val="solid"/>
          </a:ln>
          <a:effectLst>
            <a:outerShdw blurRad="165100" dist="38100" dir="5400000" algn="bl" rotWithShape="0">
              <a:srgbClr val="8A90C8">
                <a:alpha val="32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1" name="Text 9"/>
          <p:cNvSpPr/>
          <p:nvPr/>
        </p:nvSpPr>
        <p:spPr>
          <a:xfrm>
            <a:off x="777240" y="380390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can improve next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4096512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E5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detection and fix suggestions · expand to feature requests and support tickets · an active-learning loop that trains on engineer feedback.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 STEP</a:t>
            </a:r>
            <a:endParaRPr lang="en-US" sz="115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pilot to production</a:t>
            </a:r>
            <a:endParaRPr lang="en-US" sz="3000" dirty="0"/>
          </a:p>
        </p:txBody>
      </p:sp>
      <p:sp>
        <p:nvSpPr>
          <p:cNvPr id="4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371600"/>
            <a:ext cx="8046720" cy="777240"/>
          </a:xfrm>
          <a:prstGeom prst="roundRect">
            <a:avLst>
              <a:gd name="adj" fmla="val 7059"/>
            </a:avLst>
          </a:prstGeom>
          <a:solidFill>
            <a:srgbClr val="F4F5FE"/>
          </a:solidFill>
          <a:ln w="15875">
            <a:solidFill>
              <a:srgbClr val="C3C8EA"/>
            </a:solidFill>
            <a:prstDash val="solid"/>
          </a:ln>
          <a:effectLst>
            <a:outerShdw blurRad="165100" dist="38100" dir="5400000" algn="bl" rotWithShape="0">
              <a:srgbClr val="8A90C8">
                <a:alpha val="32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7498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Readiness:  </a:t>
            </a:r>
            <a:r>
              <a:rPr lang="en-US" sz="13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model is validated in offline evaluation - ready for a controlled pilot, not yet full production.</a:t>
            </a:r>
            <a:endParaRPr lang="en-US" sz="1350" dirty="0"/>
          </a:p>
        </p:txBody>
      </p:sp>
      <p:sp>
        <p:nvSpPr>
          <p:cNvPr id="6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468880"/>
            <a:ext cx="2606040" cy="2148840"/>
          </a:xfrm>
          <a:prstGeom prst="roundRect">
            <a:avLst>
              <a:gd name="adj" fmla="val 2553"/>
            </a:avLst>
          </a:prstGeom>
          <a:solidFill>
            <a:srgbClr val="F6F7FD"/>
          </a:solidFill>
          <a:ln w="15875">
            <a:solidFill>
              <a:srgbClr val="C3C8EA"/>
            </a:solidFill>
            <a:prstDash val="solid"/>
          </a:ln>
          <a:effectLst>
            <a:outerShdw blurRad="165100" dist="38100" dir="5400000" algn="bl" rotWithShape="0">
              <a:srgbClr val="8A90C8">
                <a:alpha val="32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7" name="ba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8096" y="2706624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/>
          <p:nvPr/>
        </p:nvSpPr>
        <p:spPr>
          <a:xfrm>
            <a:off x="768096" y="2706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353312" y="272491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Pilot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86384" y="3310128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in shadow mode on one team; compare AI suggestions against human triage.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86384" y="42336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~4 WEEKS</a:t>
            </a:r>
            <a:endParaRPr lang="en-US" sz="1050" dirty="0"/>
          </a:p>
        </p:txBody>
      </p:sp>
      <p:sp>
        <p:nvSpPr>
          <p:cNvPr id="12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68980" y="2468880"/>
            <a:ext cx="2606040" cy="2148840"/>
          </a:xfrm>
          <a:prstGeom prst="roundRect">
            <a:avLst>
              <a:gd name="adj" fmla="val 2553"/>
            </a:avLst>
          </a:prstGeom>
          <a:solidFill>
            <a:srgbClr val="F6F7FD"/>
          </a:solidFill>
          <a:ln w="15875">
            <a:solidFill>
              <a:srgbClr val="C3C8EA"/>
            </a:solidFill>
            <a:prstDash val="solid"/>
          </a:ln>
          <a:effectLst>
            <a:outerShdw blurRad="165100" dist="38100" dir="5400000" algn="bl" rotWithShape="0">
              <a:srgbClr val="8A90C8">
                <a:alpha val="32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3" name="ba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88436" y="2706624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4" name="Text 12"/>
          <p:cNvSpPr/>
          <p:nvPr/>
        </p:nvSpPr>
        <p:spPr>
          <a:xfrm>
            <a:off x="3488436" y="2706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073652" y="272491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Integrate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06724" y="3310128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auto-assignment into the tracker with human override and confidence gates.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06724" y="42336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~4–6 WEEKS</a:t>
            </a:r>
            <a:endParaRPr lang="en-US" sz="1050" dirty="0"/>
          </a:p>
        </p:txBody>
      </p:sp>
      <p:sp>
        <p:nvSpPr>
          <p:cNvPr id="18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89320" y="2468880"/>
            <a:ext cx="2606040" cy="2148840"/>
          </a:xfrm>
          <a:prstGeom prst="roundRect">
            <a:avLst>
              <a:gd name="adj" fmla="val 2553"/>
            </a:avLst>
          </a:prstGeom>
          <a:solidFill>
            <a:srgbClr val="F6F7FD"/>
          </a:solidFill>
          <a:ln w="15875">
            <a:solidFill>
              <a:srgbClr val="C3C8EA"/>
            </a:solidFill>
            <a:prstDash val="solid"/>
          </a:ln>
          <a:effectLst>
            <a:outerShdw blurRad="165100" dist="38100" dir="5400000" algn="bl" rotWithShape="0">
              <a:srgbClr val="8A90C8">
                <a:alpha val="32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9" name="ba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08776" y="2706624"/>
            <a:ext cx="457200" cy="457200"/>
          </a:xfrm>
          <a:prstGeom prst="ellipse">
            <a:avLst/>
          </a:prstGeom>
          <a:solidFill>
            <a:srgbClr val="FF6B5C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0" name="Text 18"/>
          <p:cNvSpPr/>
          <p:nvPr/>
        </p:nvSpPr>
        <p:spPr>
          <a:xfrm>
            <a:off x="6208776" y="2706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6793992" y="272491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&amp; roll out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227064" y="3310128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accuracy and drift, tune thresholds, then expand team by team.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27064" y="42336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ONGOING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l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37760" y="0"/>
            <a:ext cx="4206240" cy="4206240"/>
          </a:xfrm>
          <a:prstGeom prst="ellipse">
            <a:avLst/>
          </a:prstGeom>
          <a:solidFill>
            <a:srgbClr val="4F46E5">
              <a:alpha val="26000"/>
            </a:srgbClr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gl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0" y="2217420"/>
            <a:ext cx="2926080" cy="2926080"/>
          </a:xfrm>
          <a:prstGeom prst="ellipse">
            <a:avLst/>
          </a:prstGeom>
          <a:solidFill>
            <a:srgbClr val="FF6B5C">
              <a:alpha val="18000"/>
            </a:srgbClr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4" name="Text 2"/>
          <p:cNvSpPr/>
          <p:nvPr/>
        </p:nvSpPr>
        <p:spPr>
          <a:xfrm>
            <a:off x="658368" y="5669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FF6B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</a:t>
            </a:r>
            <a:endParaRPr lang="en-US" sz="115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960120"/>
            <a:ext cx="7863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built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85800" y="1874520"/>
            <a:ext cx="7498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 algn="l"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E9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ML system that classifies and routes bugs automatically</a:t>
            </a:r>
            <a:endParaRPr lang="en-US" sz="1550" dirty="0"/>
          </a:p>
          <a:p>
            <a:pPr marL="203200" indent="-203200" algn="l"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E9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Cutting manual triage, speeding resolution and shortening release cycles</a:t>
            </a:r>
            <a:endParaRPr lang="en-US" sz="1550" dirty="0"/>
          </a:p>
          <a:p>
            <a:pPr marL="203200" indent="-203200" algn="l">
              <a:buSzPct val="100000"/>
              <a:buChar char="•"/>
            </a:pPr>
            <a:r>
              <a:rPr lang="en-US" sz="1550" dirty="0">
                <a:solidFill>
                  <a:srgbClr val="E9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in evaluation and ready for a controlled pilot</a:t>
            </a:r>
            <a:endParaRPr lang="en-US" sz="1550" dirty="0"/>
          </a:p>
        </p:txBody>
      </p:sp>
      <p:sp>
        <p:nvSpPr>
          <p:cNvPr id="7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310128"/>
            <a:ext cx="7818120" cy="1024128"/>
          </a:xfrm>
          <a:prstGeom prst="roundRect">
            <a:avLst>
              <a:gd name="adj" fmla="val 5357"/>
            </a:avLst>
          </a:prstGeom>
          <a:solidFill>
            <a:srgbClr val="312E81"/>
          </a:solidFill>
          <a:ln w="15875">
            <a:solidFill>
              <a:srgbClr val="3B3A7A"/>
            </a:solidFill>
            <a:prstDash val="solid"/>
          </a:ln>
          <a:effectLst>
            <a:outerShdw blurRad="165100" dist="38100" dir="5400000" algn="bl" rotWithShape="0">
              <a:srgbClr val="8A90C8">
                <a:alpha val="32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/>
          <p:nvPr/>
        </p:nvSpPr>
        <p:spPr>
          <a:xfrm>
            <a:off x="960120" y="3310128"/>
            <a:ext cx="722376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Turning bug triage from a bottleneck into an automated, data-driven advantage.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85800" y="44988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AEB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Erin Schaverien  ·  BugTriageAI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838</Words>
  <Application>Microsoft Macintosh PowerPoint</Application>
  <PresentationFormat>On-screen Show (16:9)</PresentationFormat>
  <Paragraphs>168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Consolas</vt:lpstr>
      <vt:lpstr>Trebuchet MS</vt:lpstr>
      <vt:lpstr>Office Theme</vt:lpstr>
      <vt:lpstr>BugTriageAI</vt:lpstr>
      <vt:lpstr>The business problem</vt:lpstr>
      <vt:lpstr>What BugTriageAI does</vt:lpstr>
      <vt:lpstr>How it works, end to end</vt:lpstr>
      <vt:lpstr>What is needed to run it</vt:lpstr>
      <vt:lpstr>Results &amp; key metrics</vt:lpstr>
      <vt:lpstr>The product in action</vt:lpstr>
      <vt:lpstr>Strengths, limits &amp; what's next</vt:lpstr>
      <vt:lpstr>From pilot to production</vt:lpstr>
      <vt:lpstr>What we built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Ron Ness</dc:creator>
  <cp:lastModifiedBy>Ron Ness</cp:lastModifiedBy>
  <cp:revision>1</cp:revision>
  <dcterms:created xsi:type="dcterms:W3CDTF">2026-07-17T08:53:31Z</dcterms:created>
  <dcterms:modified xsi:type="dcterms:W3CDTF">2026-07-17T09:51:51Z</dcterms:modified>
</cp:coreProperties>
</file>