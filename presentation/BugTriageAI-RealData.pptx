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5ZYU1M79MX+VpzgWLpkGutQb0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705B9-1083-4D1B-8BA4-BDBC10BECBA6}">
  <a:tblStyle styleId="{EE1705B9-1083-4D1B-8BA4-BDBC10BECB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48" d="100"/>
          <a:sy n="148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baseline</c:v>
                </c:pt>
              </c:strCache>
            </c:strRef>
          </c:tx>
          <c:spPr>
            <a:solidFill>
              <a:srgbClr val="C7CBEE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68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9F-1D44-81E3-8897571BAF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BugTriageAI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433"/>
                    </a:solidFill>
                    <a:latin typeface="Calibri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Routing</c:v>
                </c:pt>
                <c:pt idx="1">
                  <c:v>Severity</c:v>
                </c:pt>
                <c:pt idx="2">
                  <c:v>Component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</c:v>
                </c:pt>
                <c:pt idx="1">
                  <c:v>90</c:v>
                </c:pt>
                <c:pt idx="2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9F-1D44-81E3-8897571BAF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201C55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>
            <a:spLocks noGrp="1"/>
          </p:cNvSpPr>
          <p:nvPr>
            <p:ph type="title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  <a:defRPr sz="5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GHT">
  <p:cSld name="LIGHT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  <a:defRPr sz="3000" b="1" i="0" u="none" strike="noStrike" cap="none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rgbClr val="201C55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>
            <a:spLocks noGrp="1"/>
          </p:cNvSpPr>
          <p:nvPr>
            <p:ph type="title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  <a:defRPr sz="3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"/>
          <p:cNvPicPr preferRelativeResize="0"/>
          <p:nvPr/>
        </p:nvPicPr>
        <p:blipFill rotWithShape="1">
          <a:blip r:embed="rId3">
            <a:alphaModFix/>
          </a:blip>
          <a:srcRect t="4334" b="43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1C55">
              <a:alpha val="6588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201C55">
              <a:alpha val="7803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58368" y="17830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FF6B5C"/>
                </a:solidFill>
                <a:latin typeface="Consolas"/>
                <a:ea typeface="Consolas"/>
                <a:cs typeface="Consolas"/>
                <a:sym typeface="Consolas"/>
              </a:rPr>
              <a:t>AI FOR SOFTWARE DELIVERY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title"/>
          </p:nvPr>
        </p:nvSpPr>
        <p:spPr>
          <a:xfrm>
            <a:off x="640080" y="2331720"/>
            <a:ext cx="56692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BugTriageAI</a:t>
            </a:r>
            <a:endParaRPr sz="5200"/>
          </a:p>
        </p:txBody>
      </p:sp>
      <p:sp>
        <p:nvSpPr>
          <p:cNvPr id="27" name="Google Shape;27;p1"/>
          <p:cNvSpPr/>
          <p:nvPr/>
        </p:nvSpPr>
        <p:spPr>
          <a:xfrm>
            <a:off x="658368" y="3310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DCFF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D9DCFF"/>
                </a:solidFill>
                <a:latin typeface="Calibri"/>
                <a:ea typeface="Calibri"/>
                <a:cs typeface="Calibri"/>
                <a:sym typeface="Calibri"/>
              </a:rPr>
              <a:t>Automating bug triage for faster, smarter resolution.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58368" y="378561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2E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AEB2E8"/>
                </a:solidFill>
                <a:latin typeface="Calibri"/>
                <a:ea typeface="Calibri"/>
                <a:cs typeface="Calibri"/>
                <a:sym typeface="Calibri"/>
              </a:rPr>
              <a:t>Presented by  </a:t>
            </a: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Erin Schaverien  &amp; Ron 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58368" y="4261104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150"/>
              <a:buFont typeface="Calibri"/>
              <a:buNone/>
            </a:pPr>
            <a:r>
              <a:rPr lang="en-US" sz="1150" i="1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Bug triage is critical yet time-consuming. Misclassification and delays raise development costs and slow releases - automation delivers faster resolution and higher productivity.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BACKGROUND &amp; NEEDS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The business problem</a:t>
            </a:r>
            <a:endParaRPr sz="3000"/>
          </a:p>
        </p:txBody>
      </p:sp>
      <p:sp>
        <p:nvSpPr>
          <p:cNvPr id="37" name="Google Shape;37;p2"/>
          <p:cNvSpPr/>
          <p:nvPr/>
        </p:nvSpPr>
        <p:spPr>
          <a:xfrm>
            <a:off x="548640" y="137160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F4F5FE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16459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201168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BugTriageAI automates bug triage, using machine-learning models to classify each incoming bug and route it to the right team or developer, efficiently and consistently.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32918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Today, triage is manual, slow, and dependent on a handful of senior engineers - a bottleneck that scales badly as bug volume grows.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26280" y="1371600"/>
            <a:ext cx="4069080" cy="1755648"/>
          </a:xfrm>
          <a:prstGeom prst="roundRect">
            <a:avLst>
              <a:gd name="adj" fmla="val 3125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00600" y="14996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shows up in practice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28032" y="1883664"/>
            <a:ext cx="36118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Bugs queue up waiting for manual review and routing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70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Misrouted tickets bounce between teams before reaching an owner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70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Triage depends on a few experts - a single point of failure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26280" y="3246120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312E81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00600" y="33649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 - value &amp; ROI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828032" y="3675888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Faster resolution → shorter, more predictable release cycles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Less senior-engineer time lost to manual sorting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E5E7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Fewer misassignments → lower rework and support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THE SOLUTION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What BugTriageAI does</a:t>
            </a:r>
            <a:endParaRPr sz="3000"/>
          </a:p>
        </p:txBody>
      </p:sp>
      <p:sp>
        <p:nvSpPr>
          <p:cNvPr id="54" name="Google Shape;54;p3"/>
          <p:cNvSpPr/>
          <p:nvPr/>
        </p:nvSpPr>
        <p:spPr>
          <a:xfrm>
            <a:off x="548640" y="141732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68096" y="163677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68096" y="16367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lang="en-US" sz="167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298448" y="165506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Ingests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68096" y="2103120"/>
            <a:ext cx="179222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Pulls every new bug report - title, description, logs and metadata - the moment it lands.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61488" y="141732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980944" y="163677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980944" y="163677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lang="en-US" sz="167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511296" y="165506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980944" y="213055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Labels each bug by component, type and severity using trained ML models.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306324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68096" y="328269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6" y="32826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lang="en-US" sz="167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98448" y="330098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Assigns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68096" y="377647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Predicts the best-fit team or developer and routes the ticket automatically.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61488" y="306324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980944" y="3282696"/>
            <a:ext cx="402336" cy="40233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980944" y="32826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1"/>
              <a:buFont typeface="Trebuchet MS"/>
              <a:buNone/>
            </a:pPr>
            <a:r>
              <a:rPr lang="en-US" sz="167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167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511296" y="3300984"/>
            <a:ext cx="12161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Prioritizes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980944" y="3776472"/>
            <a:ext cx="166420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Ranks the queue so the highest-impact issues surface first.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29200" y="1417320"/>
            <a:ext cx="3566160" cy="3218688"/>
          </a:xfrm>
          <a:prstGeom prst="roundRect">
            <a:avLst>
              <a:gd name="adj" fmla="val 1705"/>
            </a:avLst>
          </a:prstGeom>
          <a:solidFill>
            <a:srgbClr val="201C55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t="1844" b="1844"/>
          <a:stretch/>
        </p:blipFill>
        <p:spPr>
          <a:xfrm>
            <a:off x="5138928" y="1527048"/>
            <a:ext cx="3346704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5257800" y="3767328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From noisy backlog to sorted, owned work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257800" y="41605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It replaces slow, manual routing with instant, consistent, data-driven assignment.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PROCESS DIAGRAM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works, end to end</a:t>
            </a:r>
            <a:endParaRPr sz="3000"/>
          </a:p>
        </p:txBody>
      </p:sp>
      <p:sp>
        <p:nvSpPr>
          <p:cNvPr id="85" name="Google Shape;85;p4"/>
          <p:cNvSpPr/>
          <p:nvPr/>
        </p:nvSpPr>
        <p:spPr>
          <a:xfrm>
            <a:off x="548640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68096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lang="en-US" sz="220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68096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lang="en-US" sz="155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Data sources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68096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Bug tracker (Jira / GitHub Issues), stack traces, logs and ticket metadata.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035808" y="19202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4000"/>
              <a:buFont typeface="Trebuchet MS"/>
              <a:buNone/>
            </a:pPr>
            <a:r>
              <a:rPr lang="en-US" sz="40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300984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520440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lang="en-US" sz="220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520440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lang="en-US" sz="155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520440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Text is embedded, then ML models predict component, severity and best-fit owner.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788152" y="19202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4000"/>
              <a:buFont typeface="Trebuchet MS"/>
              <a:buNone/>
            </a:pPr>
            <a:r>
              <a:rPr lang="en-US" sz="40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053328" y="1417320"/>
            <a:ext cx="2542032" cy="1965960"/>
          </a:xfrm>
          <a:prstGeom prst="roundRect">
            <a:avLst>
              <a:gd name="adj" fmla="val 2791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272784" y="163677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lang="en-US" sz="220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272784" y="21671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550"/>
              <a:buFont typeface="Trebuchet MS"/>
              <a:buNone/>
            </a:pPr>
            <a:r>
              <a:rPr lang="en-US" sz="155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Insights &amp; routing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272784" y="2569464"/>
            <a:ext cx="212140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Auto-assigned, prioritized tickets plus dashboards for the team.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3730752"/>
            <a:ext cx="8046720" cy="932688"/>
          </a:xfrm>
          <a:prstGeom prst="roundRect">
            <a:avLst>
              <a:gd name="adj" fmla="val 5882"/>
            </a:avLst>
          </a:prstGeom>
          <a:solidFill>
            <a:srgbClr val="312E81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77240" y="3840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300"/>
              <a:buFont typeface="Trebuchet MS"/>
              <a:buNone/>
            </a:pPr>
            <a:r>
              <a:rPr lang="en-US" sz="13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Under the hood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77240" y="414223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Bug text is vectorized with transformer / TF-IDF embeddings; a fine-tuned classifier predicts component and severity, and a matching model ranks candidate owners by fit and load.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WHAT IT TAKES TO RUN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needed to run it</a:t>
            </a:r>
            <a:endParaRPr sz="3000"/>
          </a:p>
        </p:txBody>
      </p:sp>
      <p:sp>
        <p:nvSpPr>
          <p:cNvPr id="109" name="Google Shape;109;p5"/>
          <p:cNvSpPr/>
          <p:nvPr/>
        </p:nvSpPr>
        <p:spPr>
          <a:xfrm>
            <a:off x="54864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786384" y="1627632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8638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lang="en-US" sz="129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2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20700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What it needs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8638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Historical, labeled bug data for training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 live feed of incoming bug reports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Team &amp; component ownership map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6898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506724" y="1627632"/>
            <a:ext cx="310896" cy="310896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50672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lang="en-US" sz="129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2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92734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312E81"/>
                </a:solidFill>
                <a:latin typeface="Trebuchet MS"/>
                <a:ea typeface="Trebuchet MS"/>
                <a:cs typeface="Trebuchet MS"/>
                <a:sym typeface="Trebuchet MS"/>
              </a:rPr>
              <a:t>Activation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50672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API read access to the bug tracker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 trained, validated model in place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Integration hook for auto-assignment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89320" y="1371600"/>
            <a:ext cx="2606040" cy="3063240"/>
          </a:xfrm>
          <a:prstGeom prst="roundRect">
            <a:avLst>
              <a:gd name="adj" fmla="val 2105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227064" y="1627632"/>
            <a:ext cx="310896" cy="310896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27064" y="16276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Trebuchet MS"/>
              <a:buNone/>
            </a:pPr>
            <a:r>
              <a:rPr lang="en-US" sz="1292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647688" y="1591056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450"/>
              <a:buFont typeface="Trebuchet MS"/>
              <a:buNone/>
            </a:pPr>
            <a:r>
              <a:rPr lang="en-US" sz="145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runs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227064" y="224028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Ongoing: scores, priority, and role assignment for every new bug in real time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Periodic retraining (e.g. monthly)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11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Human override always available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RESULTS OBTAINED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key metrics</a:t>
            </a:r>
            <a:endParaRPr sz="3000"/>
          </a:p>
        </p:txBody>
      </p:sp>
      <p:sp>
        <p:nvSpPr>
          <p:cNvPr id="131" name="Google Shape;131;p6"/>
          <p:cNvSpPr/>
          <p:nvPr/>
        </p:nvSpPr>
        <p:spPr>
          <a:xfrm>
            <a:off x="548640" y="1417320"/>
            <a:ext cx="489204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77240" y="153619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350"/>
              <a:buFont typeface="Trebuchet MS"/>
              <a:buNone/>
            </a:pPr>
            <a:r>
              <a:rPr lang="en-US" sz="1350" b="1" dirty="0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 vs. manual baseline</a:t>
            </a:r>
            <a:endParaRPr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6" descr="Grouped bar chart comparing manual baseline vs BugTriageAI: routing 62 vs 88%, severity 68 vs 90%, component 65 vs 87%."/>
          <p:cNvGraphicFramePr/>
          <p:nvPr/>
        </p:nvGraphicFramePr>
        <p:xfrm>
          <a:off x="640080" y="1874520"/>
          <a:ext cx="47091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4" name="Google Shape;134;p6"/>
          <p:cNvSpPr/>
          <p:nvPr/>
        </p:nvSpPr>
        <p:spPr>
          <a:xfrm>
            <a:off x="5623560" y="141732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824728" y="1527048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12 min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223760" y="1527048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median time-to-assignment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down from 6.5 hrs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623560" y="2432304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824728" y="2542032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9%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223760" y="2542032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reassignment rate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down from 24%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623560" y="3447288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824728" y="3557016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9D74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0F9D74"/>
                </a:solidFill>
                <a:latin typeface="Trebuchet MS"/>
                <a:ea typeface="Trebuchet MS"/>
                <a:cs typeface="Trebuchet MS"/>
                <a:sym typeface="Trebuchet MS"/>
              </a:rPr>
              <a:t>~70%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223760" y="3557016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less manual triage time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freed for engineering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Illustrative results from initial offline evaluation - replace with your production figures.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INTERFACE &amp; LIVE DEMO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product in action</a:t>
            </a:r>
            <a:endParaRPr sz="3000"/>
          </a:p>
        </p:txBody>
      </p:sp>
      <p:sp>
        <p:nvSpPr>
          <p:cNvPr id="151" name="Google Shape;151;p7"/>
          <p:cNvSpPr/>
          <p:nvPr/>
        </p:nvSpPr>
        <p:spPr>
          <a:xfrm>
            <a:off x="548640" y="1417320"/>
            <a:ext cx="5989320" cy="31089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3F5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8640" y="1417320"/>
            <a:ext cx="5989320" cy="420624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13232" y="1572768"/>
            <a:ext cx="109728" cy="109728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914400" y="1572768"/>
            <a:ext cx="109728" cy="109728"/>
          </a:xfrm>
          <a:prstGeom prst="ellipse">
            <a:avLst/>
          </a:prstGeom>
          <a:solidFill>
            <a:srgbClr val="E095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15568" y="1572768"/>
            <a:ext cx="109728" cy="109728"/>
          </a:xfrm>
          <a:prstGeom prst="ellipse">
            <a:avLst/>
          </a:prstGeom>
          <a:solidFill>
            <a:srgbClr val="0F9D7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417320" y="1417320"/>
            <a:ext cx="45720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DCFF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D9DCFF"/>
                </a:solidFill>
                <a:latin typeface="Consolas"/>
                <a:ea typeface="Consolas"/>
                <a:cs typeface="Consolas"/>
                <a:sym typeface="Consolas"/>
              </a:rPr>
              <a:t>BugTriageAI  ·  Triage Queue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7"/>
          <p:cNvGraphicFramePr/>
          <p:nvPr>
            <p:extLst>
              <p:ext uri="{D42A27DB-BD31-4B8C-83A1-F6EECF244321}">
                <p14:modId xmlns:p14="http://schemas.microsoft.com/office/powerpoint/2010/main" val="1707652767"/>
              </p:ext>
            </p:extLst>
          </p:nvPr>
        </p:nvGraphicFramePr>
        <p:xfrm>
          <a:off x="713231" y="1956816"/>
          <a:ext cx="5670315" cy="2322525"/>
        </p:xfrm>
        <a:graphic>
          <a:graphicData uri="http://schemas.openxmlformats.org/drawingml/2006/table">
            <a:tbl>
              <a:tblPr>
                <a:noFill/>
                <a:tableStyleId>{EE1705B9-1083-4D1B-8BA4-BDBC10BECBA6}</a:tableStyleId>
              </a:tblPr>
              <a:tblGrid>
                <a:gridCol w="1826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5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Bug</a:t>
                      </a:r>
                      <a:endParaRPr sz="105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Assigned to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Conf.</a:t>
                      </a:r>
                      <a:endParaRPr sz="10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RECOMMENDERS-467951</a:t>
                      </a:r>
                      <a:endParaRPr sz="105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FF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Developer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0.636735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EQUINOX-530069 </a:t>
                      </a:r>
                      <a:endParaRPr sz="105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Compendium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5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E09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Developer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0.452677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NATTABLE-422482</a:t>
                      </a:r>
                      <a:endParaRPr sz="105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Core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FF6B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Developer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0.455737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WTP_JAVA_EE_TOOLS-116294</a:t>
                      </a:r>
                      <a:endParaRPr sz="105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jst.j2ee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9D74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0F9D7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Systems Developer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0.958612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5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PDT-165702</a:t>
                      </a:r>
                      <a:endParaRPr sz="105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 Assist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52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E095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Developer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strike="noStrike" cap="none" dirty="0">
                          <a:solidFill>
                            <a:srgbClr val="1F24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0.484911</a:t>
                      </a:r>
                      <a:endParaRPr sz="10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5400" marR="25400" marT="25400" marB="25400" anchor="ctr">
                    <a:lnL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3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8" name="Google Shape;158;p7"/>
          <p:cNvSpPr/>
          <p:nvPr/>
        </p:nvSpPr>
        <p:spPr>
          <a:xfrm>
            <a:off x="6812280" y="1417320"/>
            <a:ext cx="1783080" cy="3108960"/>
          </a:xfrm>
          <a:prstGeom prst="roundRect">
            <a:avLst>
              <a:gd name="adj" fmla="val 3077"/>
            </a:avLst>
          </a:prstGeom>
          <a:solidFill>
            <a:srgbClr val="312E81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995160" y="157276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400"/>
              <a:buFont typeface="Trebuchet MS"/>
              <a:buNone/>
            </a:pPr>
            <a:r>
              <a:rPr lang="en-US" sz="14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Today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95160" y="1938528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128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995160" y="23042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bugs triaged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995160" y="25603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91%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6995160" y="292608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auto-assigned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995160" y="3182112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0.56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995160" y="354787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avg. confidence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995160" y="380390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12 min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6995160" y="4169664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C8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4C8F2"/>
                </a:solidFill>
                <a:latin typeface="Calibri"/>
                <a:ea typeface="Calibri"/>
                <a:cs typeface="Calibri"/>
                <a:sym typeface="Calibri"/>
              </a:rPr>
              <a:t>avg. to owner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incoming bug is scored, labeled and routed in seconds - with a confidence score and one-click human override.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ADVANTAGES &amp; CHALLENGES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Strengths, limits &amp; what's next</a:t>
            </a:r>
            <a:endParaRPr sz="3000"/>
          </a:p>
        </p:txBody>
      </p:sp>
      <p:sp>
        <p:nvSpPr>
          <p:cNvPr id="176" name="Google Shape;176;p8"/>
          <p:cNvSpPr/>
          <p:nvPr/>
        </p:nvSpPr>
        <p:spPr>
          <a:xfrm>
            <a:off x="548640" y="141732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D1EDE0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7724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9D74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0F9D74"/>
                </a:solidFill>
                <a:latin typeface="Trebuchet MS"/>
                <a:ea typeface="Trebuchet MS"/>
                <a:cs typeface="Trebuchet MS"/>
                <a:sym typeface="Trebuchet MS"/>
              </a:rPr>
              <a:t>Key advantages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04672" y="192024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Instant, consistent triage - around the clock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Frees senior engineers from manual routing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Learns from history and improves over time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Transparent confidence scores keep humans in control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0" y="1417320"/>
            <a:ext cx="4023360" cy="2148840"/>
          </a:xfrm>
          <a:prstGeom prst="roundRect">
            <a:avLst>
              <a:gd name="adj" fmla="val 2553"/>
            </a:avLst>
          </a:prstGeom>
          <a:solidFill>
            <a:srgbClr val="FBD7CF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80060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500"/>
              <a:buFont typeface="Trebuchet MS"/>
              <a:buNone/>
            </a:pPr>
            <a:r>
              <a:rPr lang="en-US" sz="15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limitations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828032" y="192024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Needs enough labeled history to train well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Accuracy dips on brand-new components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Rare or edge-case bugs still need human review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600"/>
              </a:spcBef>
              <a:spcAft>
                <a:spcPts val="0"/>
              </a:spcAft>
              <a:buClr>
                <a:srgbClr val="1F2433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Requires monitoring to guard against drift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8640" y="3703320"/>
            <a:ext cx="8046720" cy="960120"/>
          </a:xfrm>
          <a:prstGeom prst="roundRect">
            <a:avLst>
              <a:gd name="adj" fmla="val 5714"/>
            </a:avLst>
          </a:prstGeom>
          <a:solidFill>
            <a:srgbClr val="312E81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77240" y="38039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300"/>
              <a:buFont typeface="Trebuchet MS"/>
              <a:buNone/>
            </a:pPr>
            <a:r>
              <a:rPr lang="en-US" sz="1300" b="1">
                <a:solidFill>
                  <a:srgbClr val="FF6B5C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can improve next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77240" y="4096512"/>
            <a:ext cx="75895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E7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5E7FF"/>
                </a:solidFill>
                <a:latin typeface="Calibri"/>
                <a:ea typeface="Calibri"/>
                <a:cs typeface="Calibri"/>
                <a:sym typeface="Calibri"/>
              </a:rPr>
              <a:t>Duplicate detection and fix suggestions · expand to feature requests and support tickets · an active-learning loop that trains on engineer feedback.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548640" y="310896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NEXT STEP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3000"/>
              <a:buFont typeface="Trebuchet MS"/>
              <a:buNone/>
            </a:pPr>
            <a:r>
              <a:rPr lang="en-US" sz="30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From pilot to production</a:t>
            </a:r>
            <a:endParaRPr sz="3000"/>
          </a:p>
        </p:txBody>
      </p:sp>
      <p:sp>
        <p:nvSpPr>
          <p:cNvPr id="192" name="Google Shape;192;p9"/>
          <p:cNvSpPr/>
          <p:nvPr/>
        </p:nvSpPr>
        <p:spPr>
          <a:xfrm>
            <a:off x="548640" y="13716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F4F5FE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22960" y="137160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Readiness:  </a:t>
            </a:r>
            <a:r>
              <a:rPr lang="en-US" sz="135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the core model is validated in offline evaluation - ready for a controlled pilot, not yet full production.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54864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68096" y="2706624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6809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lang="en-US" sz="19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35331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Pilot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8638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Run in shadow mode on one team; compare AI suggestions against human triage.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8638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~4 WEEKS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6898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488436" y="2706624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8843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lang="en-US" sz="19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07365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50672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Wire auto-assignment into the tracker with human override and confidence gates.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50672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~4–6 WEEKS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989320" y="246888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F6F7FD"/>
          </a:solidFill>
          <a:ln w="15875" cap="flat" cmpd="sng">
            <a:solidFill>
              <a:srgbClr val="C3C8E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208776" y="2706624"/>
            <a:ext cx="457200" cy="457200"/>
          </a:xfrm>
          <a:prstGeom prst="ellipse">
            <a:avLst/>
          </a:prstGeom>
          <a:solidFill>
            <a:srgbClr val="FF6B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208776" y="2706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rebuchet MS"/>
              <a:buNone/>
            </a:pPr>
            <a:r>
              <a:rPr lang="en-US" sz="19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793992" y="2724912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600"/>
              <a:buFont typeface="Trebuchet MS"/>
              <a:buNone/>
            </a:pPr>
            <a:r>
              <a:rPr lang="en-US" sz="1600" b="1">
                <a:solidFill>
                  <a:srgbClr val="1F2433"/>
                </a:solidFill>
                <a:latin typeface="Trebuchet MS"/>
                <a:ea typeface="Trebuchet MS"/>
                <a:cs typeface="Trebuchet MS"/>
                <a:sym typeface="Trebuchet MS"/>
              </a:rPr>
              <a:t>Test &amp; roll out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6227064" y="3310128"/>
            <a:ext cx="2148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43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2433"/>
                </a:solidFill>
                <a:latin typeface="Calibri"/>
                <a:ea typeface="Calibri"/>
                <a:cs typeface="Calibri"/>
                <a:sym typeface="Calibri"/>
              </a:rPr>
              <a:t>Monitor accuracy and drift, tune thresholds, then expand team by team.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227064" y="4233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50"/>
              <a:buFont typeface="Consolas"/>
              <a:buNone/>
            </a:pPr>
            <a:r>
              <a:rPr lang="en-US" sz="1050" b="1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ONGOING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4937760" y="0"/>
            <a:ext cx="4206240" cy="4206240"/>
          </a:xfrm>
          <a:prstGeom prst="ellipse">
            <a:avLst/>
          </a:prstGeom>
          <a:solidFill>
            <a:srgbClr val="4F46E5">
              <a:alpha val="25882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217920" y="2217420"/>
            <a:ext cx="2926080" cy="2926080"/>
          </a:xfrm>
          <a:prstGeom prst="ellipse">
            <a:avLst/>
          </a:prstGeom>
          <a:solidFill>
            <a:srgbClr val="FF6B5C">
              <a:alpha val="18039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58368" y="5669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B5C"/>
              </a:buClr>
              <a:buSzPts val="1150"/>
              <a:buFont typeface="Consolas"/>
              <a:buNone/>
            </a:pPr>
            <a:r>
              <a:rPr lang="en-US" sz="1150" b="1">
                <a:solidFill>
                  <a:srgbClr val="FF6B5C"/>
                </a:solidFill>
                <a:latin typeface="Consolas"/>
                <a:ea typeface="Consolas"/>
                <a:cs typeface="Consolas"/>
                <a:sym typeface="Consolas"/>
              </a:rPr>
              <a:t>SUMMARY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>
            <a:spLocks noGrp="1"/>
          </p:cNvSpPr>
          <p:nvPr>
            <p:ph type="title"/>
          </p:nvPr>
        </p:nvSpPr>
        <p:spPr>
          <a:xfrm>
            <a:off x="640080" y="960120"/>
            <a:ext cx="78638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lang="en-US" sz="32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 built</a:t>
            </a:r>
            <a:endParaRPr sz="3200"/>
          </a:p>
        </p:txBody>
      </p:sp>
      <p:sp>
        <p:nvSpPr>
          <p:cNvPr id="221" name="Google Shape;221;p10"/>
          <p:cNvSpPr/>
          <p:nvPr/>
        </p:nvSpPr>
        <p:spPr>
          <a:xfrm>
            <a:off x="685800" y="1874520"/>
            <a:ext cx="7498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An ML system that classifies and routes bugs automatically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10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Cutting manual triage, speeding resolution and shortening release cycles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100"/>
              </a:spcBef>
              <a:spcAft>
                <a:spcPts val="0"/>
              </a:spcAft>
              <a:buClr>
                <a:srgbClr val="E9EAFF"/>
              </a:buClr>
              <a:buSzPts val="1550"/>
              <a:buFont typeface="Calibri"/>
              <a:buChar char="•"/>
            </a:pPr>
            <a:r>
              <a:rPr lang="en-US" sz="1550">
                <a:solidFill>
                  <a:srgbClr val="E9EAFF"/>
                </a:solidFill>
                <a:latin typeface="Calibri"/>
                <a:ea typeface="Calibri"/>
                <a:cs typeface="Calibri"/>
                <a:sym typeface="Calibri"/>
              </a:rPr>
              <a:t>Validated in evaluation and ready for a controlled pilot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58368" y="3310128"/>
            <a:ext cx="7818120" cy="1024128"/>
          </a:xfrm>
          <a:prstGeom prst="roundRect">
            <a:avLst>
              <a:gd name="adj" fmla="val 5357"/>
            </a:avLst>
          </a:prstGeom>
          <a:solidFill>
            <a:srgbClr val="312E81"/>
          </a:solidFill>
          <a:ln w="15875" cap="flat" cmpd="sng">
            <a:solidFill>
              <a:srgbClr val="3B3A7A"/>
            </a:solidFill>
            <a:prstDash val="solid"/>
            <a:round/>
            <a:headEnd type="none" w="sm" len="sm"/>
            <a:tailEnd type="none" w="sm" len="sm"/>
          </a:ln>
          <a:effectLst>
            <a:outerShdw blurRad="165100" dist="38100" dir="5400000" algn="bl" rotWithShape="0">
              <a:srgbClr val="8A90C8">
                <a:alpha val="32157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960120" y="3310128"/>
            <a:ext cx="722376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rebuchet MS"/>
              <a:buNone/>
            </a:pPr>
            <a:r>
              <a:rPr lang="en-US" sz="2100" b="1" i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Turning bug triage from a bottleneck into an automated, data-driven advantage.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8580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B2E8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AEB2E8"/>
                </a:solidFill>
                <a:latin typeface="Calibri"/>
                <a:ea typeface="Calibri"/>
                <a:cs typeface="Calibri"/>
                <a:sym typeface="Calibri"/>
              </a:rPr>
              <a:t>Erin Schaverien &amp; Ron Ness ·  BugTriageAI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834</Words>
  <Application>Microsoft Macintosh PowerPoint</Application>
  <PresentationFormat>On-screen Show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BugTriageAI</vt:lpstr>
      <vt:lpstr>The business problem</vt:lpstr>
      <vt:lpstr>What BugTriageAI does</vt:lpstr>
      <vt:lpstr>How it works, end to end</vt:lpstr>
      <vt:lpstr>What is needed to run it</vt:lpstr>
      <vt:lpstr>Results &amp; key metrics</vt:lpstr>
      <vt:lpstr>The product in action</vt:lpstr>
      <vt:lpstr>Strengths, limits &amp; what's next</vt:lpstr>
      <vt:lpstr>From pilot to production</vt:lpstr>
      <vt:lpstr>What we built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Ron Ness</dc:creator>
  <cp:lastModifiedBy>Ron Ness</cp:lastModifiedBy>
  <cp:revision>2</cp:revision>
  <dcterms:created xsi:type="dcterms:W3CDTF">2026-07-17T08:53:31Z</dcterms:created>
  <dcterms:modified xsi:type="dcterms:W3CDTF">2026-07-25T23:30:24Z</dcterms:modified>
</cp:coreProperties>
</file>