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nwXi8zYv+hy3oXImJShVeU528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E06139-4F5C-4FA1-B793-B27477BF34BD}">
  <a:tblStyle styleId="{A5E06139-4F5C-4FA1-B793-B27477BF34B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baseline</c:v>
                </c:pt>
              </c:strCache>
            </c:strRef>
          </c:tx>
          <c:spPr>
            <a:solidFill>
              <a:srgbClr val="C7CBE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433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Routing</c:v>
                </c:pt>
                <c:pt idx="1">
                  <c:v>Severity</c:v>
                </c:pt>
                <c:pt idx="2">
                  <c:v>Component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68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9F-1D44-81E3-8897571BAF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BugTriageAI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433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Routing</c:v>
                </c:pt>
                <c:pt idx="1">
                  <c:v>Severity</c:v>
                </c:pt>
                <c:pt idx="2">
                  <c:v>Component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</c:v>
                </c:pt>
                <c:pt idx="1">
                  <c:v>90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9F-1D44-81E3-8897571BAF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201C55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title"/>
          </p:nvPr>
        </p:nvSpPr>
        <p:spPr>
          <a:xfrm>
            <a:off x="640080" y="233172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  <a:defRPr b="1" i="0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  <a:defRPr b="1" i="0" sz="300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rgbClr val="201C55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title"/>
          </p:nvPr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  <a:defRPr b="1" i="0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"/>
          <p:cNvPicPr preferRelativeResize="0"/>
          <p:nvPr/>
        </p:nvPicPr>
        <p:blipFill rotWithShape="1">
          <a:blip r:embed="rId3">
            <a:alphaModFix/>
          </a:blip>
          <a:srcRect b="4334" l="0" r="0" t="43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1C55">
              <a:alpha val="6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201C55">
              <a:alpha val="7803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58368" y="17830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F6B5C"/>
                </a:solidFill>
                <a:latin typeface="Consolas"/>
                <a:ea typeface="Consolas"/>
                <a:cs typeface="Consolas"/>
                <a:sym typeface="Consolas"/>
              </a:rPr>
              <a:t>AI FOR SOFTWARE DELIVERY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>
            <p:ph type="title"/>
          </p:nvPr>
        </p:nvSpPr>
        <p:spPr>
          <a:xfrm>
            <a:off x="640080" y="233172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lang="en-US" sz="5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BugTriageAI</a:t>
            </a:r>
            <a:endParaRPr sz="5200"/>
          </a:p>
        </p:txBody>
      </p:sp>
      <p:sp>
        <p:nvSpPr>
          <p:cNvPr id="27" name="Google Shape;27;p1"/>
          <p:cNvSpPr/>
          <p:nvPr/>
        </p:nvSpPr>
        <p:spPr>
          <a:xfrm>
            <a:off x="658368" y="33101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CFF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D9DCFF"/>
                </a:solidFill>
                <a:latin typeface="Calibri"/>
                <a:ea typeface="Calibri"/>
                <a:cs typeface="Calibri"/>
                <a:sym typeface="Calibri"/>
              </a:rPr>
              <a:t>Automating bug triage for faster, smarter resolution.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58368" y="3785616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B2E8"/>
                </a:solidFill>
                <a:latin typeface="Calibri"/>
                <a:ea typeface="Calibri"/>
                <a:cs typeface="Calibri"/>
                <a:sym typeface="Calibri"/>
              </a:rPr>
              <a:t>Presented by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Erin Schaverien  &amp; Ron 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58368" y="426110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Bug triage is critical yet time-consuming. Misclassification and delays raise development costs and slow releases - automation delivers faster resolution and higher productivity.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BACKGROUND &amp; NEEDS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The business problem</a:t>
            </a:r>
            <a:endParaRPr sz="3000"/>
          </a:p>
        </p:txBody>
      </p:sp>
      <p:sp>
        <p:nvSpPr>
          <p:cNvPr id="37" name="Google Shape;37;p2"/>
          <p:cNvSpPr/>
          <p:nvPr/>
        </p:nvSpPr>
        <p:spPr>
          <a:xfrm>
            <a:off x="548640" y="1371600"/>
            <a:ext cx="3703320" cy="3291840"/>
          </a:xfrm>
          <a:prstGeom prst="roundRect">
            <a:avLst>
              <a:gd fmla="val 1667" name="adj"/>
            </a:avLst>
          </a:prstGeom>
          <a:solidFill>
            <a:srgbClr val="F4F5FE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" y="201168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BugTriageAI automates bug triage, using machine-learning models to classify each incoming bug and route it to the right team or developer, efficiently and consistently.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329184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Today, triage is manual, slow, and dependent on a handful of senior engineers - a bottleneck that scales badly as bug volume grows.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26280" y="1371600"/>
            <a:ext cx="4069080" cy="1755648"/>
          </a:xfrm>
          <a:prstGeom prst="roundRect">
            <a:avLst>
              <a:gd fmla="val 3125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00600" y="149961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shows up in practice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28032" y="1883664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Bugs queue up waiting for manual review and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Misrouted tickets bounce between teams before reaching an owner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Triage depends on a few experts - a single point of failure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26280" y="3246120"/>
            <a:ext cx="4069080" cy="1417320"/>
          </a:xfrm>
          <a:prstGeom prst="roundRect">
            <a:avLst>
              <a:gd fmla="val 3871" name="adj"/>
            </a:avLst>
          </a:prstGeom>
          <a:solidFill>
            <a:srgbClr val="312E81"/>
          </a:solidFill>
          <a:ln cap="flat" cmpd="sng" w="15875">
            <a:solidFill>
              <a:srgbClr val="3B3A7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00600" y="33649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 - value &amp; ROI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28032" y="3675888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Faster resolution → shorter, more predictable release cycles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5E7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Less senior-engineer time lost to manual sorting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5E7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Fewer misassignments → lower rework and support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THE SOLUTION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What BugTriageAI does</a:t>
            </a:r>
            <a:endParaRPr sz="3000"/>
          </a:p>
        </p:txBody>
      </p:sp>
      <p:sp>
        <p:nvSpPr>
          <p:cNvPr id="54" name="Google Shape;54;p3"/>
          <p:cNvSpPr/>
          <p:nvPr/>
        </p:nvSpPr>
        <p:spPr>
          <a:xfrm>
            <a:off x="548640" y="1417320"/>
            <a:ext cx="2084832" cy="1572768"/>
          </a:xfrm>
          <a:prstGeom prst="roundRect">
            <a:avLst>
              <a:gd fmla="val 3488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68096" y="163677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68096" y="16367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b="1" i="0" lang="en-US" sz="1672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298448" y="165506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Ingests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68096" y="2103120"/>
            <a:ext cx="17922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Pulls every new bug report - title, description, logs and metadata - the moment it lands.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761488" y="1417320"/>
            <a:ext cx="2084832" cy="1572768"/>
          </a:xfrm>
          <a:prstGeom prst="roundRect">
            <a:avLst>
              <a:gd fmla="val 3488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980944" y="163677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980944" y="16367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b="1" i="0" lang="en-US" sz="1672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511296" y="165506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980944" y="2130552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Labels each bug by component, type and severity using trained ML models.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3063240"/>
            <a:ext cx="2084832" cy="1572768"/>
          </a:xfrm>
          <a:prstGeom prst="roundRect">
            <a:avLst>
              <a:gd fmla="val 3488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68096" y="328269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6" y="32826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b="1" i="0" lang="en-US" sz="1672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298448" y="330098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Assigns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68096" y="3776472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Predicts the best-fit team or developer and routes the ticket automatically.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61488" y="3063240"/>
            <a:ext cx="2084832" cy="1572768"/>
          </a:xfrm>
          <a:prstGeom prst="roundRect">
            <a:avLst>
              <a:gd fmla="val 3488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980944" y="328269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980944" y="32826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b="1" i="0" lang="en-US" sz="1672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511296" y="330098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Prioritizes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980944" y="3776472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Ranks the queue so the highest-impact issues surface first.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29200" y="1417320"/>
            <a:ext cx="3566160" cy="3218688"/>
          </a:xfrm>
          <a:prstGeom prst="roundRect">
            <a:avLst>
              <a:gd fmla="val 1705" name="adj"/>
            </a:avLst>
          </a:prstGeom>
          <a:solidFill>
            <a:srgbClr val="201C55"/>
          </a:solidFill>
          <a:ln cap="flat" cmpd="sng" w="15875">
            <a:solidFill>
              <a:srgbClr val="3B3A7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1844" l="0" r="0" t="1844"/>
          <a:stretch/>
        </p:blipFill>
        <p:spPr>
          <a:xfrm>
            <a:off x="5138928" y="1527048"/>
            <a:ext cx="3346704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5257800" y="37673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From noisy backlog to sorted, owned work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257800" y="41605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It replaces slow, manual routing with instant, consistent, data-driven assignment.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PROCESS DIAGRAM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works, end to end</a:t>
            </a:r>
            <a:endParaRPr sz="3000"/>
          </a:p>
        </p:txBody>
      </p:sp>
      <p:sp>
        <p:nvSpPr>
          <p:cNvPr id="85" name="Google Shape;85;p4"/>
          <p:cNvSpPr/>
          <p:nvPr/>
        </p:nvSpPr>
        <p:spPr>
          <a:xfrm>
            <a:off x="548640" y="1417320"/>
            <a:ext cx="2542032" cy="1965960"/>
          </a:xfrm>
          <a:prstGeom prst="roundRect">
            <a:avLst>
              <a:gd fmla="val 2791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68096" y="16367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68096" y="21671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Data sources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68096" y="2569464"/>
            <a:ext cx="21214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Bug tracker (Jira / GitHub Issues), stack traces, logs and ticket metadata.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035808" y="19202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300984" y="1417320"/>
            <a:ext cx="2542032" cy="1965960"/>
          </a:xfrm>
          <a:prstGeom prst="roundRect">
            <a:avLst>
              <a:gd fmla="val 2791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520440" y="16367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520440" y="21671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520440" y="2569464"/>
            <a:ext cx="21214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Text is embedded, then ML models predict component, severity and best-fit owner.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788152" y="19202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053328" y="1417320"/>
            <a:ext cx="2542032" cy="1965960"/>
          </a:xfrm>
          <a:prstGeom prst="roundRect">
            <a:avLst>
              <a:gd fmla="val 2791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272784" y="16367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272784" y="21671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 &amp; routing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272784" y="2569464"/>
            <a:ext cx="21214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Auto-assigned, prioritized tickets plus dashboards for the team.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3730752"/>
            <a:ext cx="8046720" cy="932688"/>
          </a:xfrm>
          <a:prstGeom prst="roundRect">
            <a:avLst>
              <a:gd fmla="val 5882" name="adj"/>
            </a:avLst>
          </a:prstGeom>
          <a:solidFill>
            <a:srgbClr val="312E81"/>
          </a:solidFill>
          <a:ln cap="flat" cmpd="sng" w="15875">
            <a:solidFill>
              <a:srgbClr val="3B3A7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77240" y="3840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Under the hood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77240" y="414223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Bug text is vectorized </a:t>
            </a:r>
            <a:r>
              <a:rPr lang="en-US" sz="1250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0" i="0" lang="en-US" sz="125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r>
              <a:rPr lang="en-US" sz="1250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 processes</a:t>
            </a:r>
            <a:r>
              <a:rPr b="0" i="0" lang="en-US" sz="125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; a fine-tuned classifier predicts component and severity, and a matching model ranks candidate owners by fit and load.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WHAT IT TAKES TO 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needed to run it</a:t>
            </a:r>
            <a:endParaRPr sz="3000"/>
          </a:p>
        </p:txBody>
      </p:sp>
      <p:sp>
        <p:nvSpPr>
          <p:cNvPr id="109" name="Google Shape;109;p5"/>
          <p:cNvSpPr/>
          <p:nvPr/>
        </p:nvSpPr>
        <p:spPr>
          <a:xfrm>
            <a:off x="548640" y="1371600"/>
            <a:ext cx="2606040" cy="3063240"/>
          </a:xfrm>
          <a:prstGeom prst="roundRect">
            <a:avLst>
              <a:gd fmla="val 2105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86384" y="1627632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86384" y="16276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Trebuchet MS"/>
              <a:buNone/>
            </a:pPr>
            <a:r>
              <a:rPr b="1" i="0" lang="en-US" sz="1292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207008" y="159105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needs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86384" y="224028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Historical, labeled bug data for 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 live feed of incoming bug reports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Team &amp; component ownership 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68980" y="1371600"/>
            <a:ext cx="2606040" cy="3063240"/>
          </a:xfrm>
          <a:prstGeom prst="roundRect">
            <a:avLst>
              <a:gd fmla="val 2105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506724" y="1627632"/>
            <a:ext cx="310896" cy="310896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506724" y="16276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Trebuchet MS"/>
              <a:buNone/>
            </a:pPr>
            <a:r>
              <a:rPr b="1" i="0" lang="en-US" sz="1292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927348" y="159105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312E81"/>
                </a:solidFill>
                <a:latin typeface="Trebuchet MS"/>
                <a:ea typeface="Trebuchet MS"/>
                <a:cs typeface="Trebuchet MS"/>
                <a:sym typeface="Trebuchet MS"/>
              </a:rPr>
              <a:t>Activation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506724" y="224028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API read access to the bug tracker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 trained, validated model in place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Integration hook for auto-assignment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989320" y="1371600"/>
            <a:ext cx="2606040" cy="3063240"/>
          </a:xfrm>
          <a:prstGeom prst="roundRect">
            <a:avLst>
              <a:gd fmla="val 2105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227064" y="1627632"/>
            <a:ext cx="310896" cy="310896"/>
          </a:xfrm>
          <a:prstGeom prst="ellipse">
            <a:avLst/>
          </a:prstGeom>
          <a:solidFill>
            <a:srgbClr val="FF6B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227064" y="16276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Trebuchet MS"/>
              <a:buNone/>
            </a:pPr>
            <a:r>
              <a:rPr b="1" i="0" lang="en-US" sz="1292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2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647688" y="159105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runs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227064" y="224028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Ongoing: scores, priority, and role assignment for every new bug in real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Periodic retraining (e.g. monthly)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Human override always available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RESULTS OBTAINED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&amp; key metrics</a:t>
            </a:r>
            <a:endParaRPr sz="3000"/>
          </a:p>
        </p:txBody>
      </p:sp>
      <p:sp>
        <p:nvSpPr>
          <p:cNvPr id="131" name="Google Shape;131;p6"/>
          <p:cNvSpPr/>
          <p:nvPr/>
        </p:nvSpPr>
        <p:spPr>
          <a:xfrm>
            <a:off x="548640" y="1417320"/>
            <a:ext cx="4892040" cy="2971800"/>
          </a:xfrm>
          <a:prstGeom prst="roundRect">
            <a:avLst>
              <a:gd fmla="val 1846" name="adj"/>
            </a:avLst>
          </a:prstGeom>
          <a:solidFill>
            <a:srgbClr val="FFFFFF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77240" y="153619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Accuracy vs. manual baseline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descr="Grouped bar chart comparing manual baseline vs BugTriageAI: routing 62 vs 88%, severity 68 vs 90%, component 65 vs 87%." id="133" name="Google Shape;133;p6"/>
          <p:cNvGraphicFramePr/>
          <p:nvPr/>
        </p:nvGraphicFramePr>
        <p:xfrm>
          <a:off x="640080" y="1874520"/>
          <a:ext cx="4709160" cy="23774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4" name="Google Shape;134;p6"/>
          <p:cNvSpPr/>
          <p:nvPr/>
        </p:nvSpPr>
        <p:spPr>
          <a:xfrm>
            <a:off x="5623560" y="1417320"/>
            <a:ext cx="2971800" cy="914400"/>
          </a:xfrm>
          <a:prstGeom prst="roundRect">
            <a:avLst>
              <a:gd fmla="val 6000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824728" y="1527048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200"/>
              <a:buFont typeface="Trebuchet MS"/>
              <a:buNone/>
            </a:pPr>
            <a:r>
              <a:rPr b="1" lang="en-US" sz="3200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&gt;</a:t>
            </a:r>
            <a:r>
              <a:rPr b="1" i="0" lang="en-US" sz="32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2 min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223749" y="1527050"/>
            <a:ext cx="128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median time-to-</a:t>
            </a:r>
            <a:r>
              <a:rPr b="1" lang="en-US" sz="11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down from 6.5 hrs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623560" y="2432304"/>
            <a:ext cx="2971800" cy="914400"/>
          </a:xfrm>
          <a:prstGeom prst="roundRect">
            <a:avLst>
              <a:gd fmla="val 6000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824728" y="2542032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9%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223760" y="2542032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reassignment rate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down from 24%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623560" y="3447288"/>
            <a:ext cx="2971800" cy="914400"/>
          </a:xfrm>
          <a:prstGeom prst="roundRect">
            <a:avLst>
              <a:gd fmla="val 6000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824728" y="3557016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74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F9D74"/>
                </a:solidFill>
                <a:latin typeface="Trebuchet MS"/>
                <a:ea typeface="Trebuchet MS"/>
                <a:cs typeface="Trebuchet MS"/>
                <a:sym typeface="Trebuchet MS"/>
              </a:rPr>
              <a:t>~70%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223760" y="3557016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less manual triage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freed for engineering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6" title="newplo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225" y="1527050"/>
            <a:ext cx="4709175" cy="26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INTERFACE &amp; LIVE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product in action</a:t>
            </a:r>
            <a:endParaRPr sz="3000"/>
          </a:p>
        </p:txBody>
      </p:sp>
      <p:sp>
        <p:nvSpPr>
          <p:cNvPr id="151" name="Google Shape;151;p7"/>
          <p:cNvSpPr/>
          <p:nvPr/>
        </p:nvSpPr>
        <p:spPr>
          <a:xfrm>
            <a:off x="548640" y="1417320"/>
            <a:ext cx="598932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3F5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1417320"/>
            <a:ext cx="5989320" cy="420624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13232" y="1572768"/>
            <a:ext cx="109728" cy="109728"/>
          </a:xfrm>
          <a:prstGeom prst="ellipse">
            <a:avLst/>
          </a:prstGeom>
          <a:solidFill>
            <a:srgbClr val="FF6B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14400" y="1572768"/>
            <a:ext cx="109728" cy="109728"/>
          </a:xfrm>
          <a:prstGeom prst="ellipse">
            <a:avLst/>
          </a:prstGeom>
          <a:solidFill>
            <a:srgbClr val="E095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15568" y="1572768"/>
            <a:ext cx="109728" cy="109728"/>
          </a:xfrm>
          <a:prstGeom prst="ellipse">
            <a:avLst/>
          </a:prstGeom>
          <a:solidFill>
            <a:srgbClr val="0F9D7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417320" y="1417320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C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9DCFF"/>
                </a:solidFill>
                <a:latin typeface="Consolas"/>
                <a:ea typeface="Consolas"/>
                <a:cs typeface="Consolas"/>
                <a:sym typeface="Consolas"/>
              </a:rPr>
              <a:t>BugTriageAI  ·  Triage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7"/>
          <p:cNvGraphicFramePr/>
          <p:nvPr/>
        </p:nvGraphicFramePr>
        <p:xfrm>
          <a:off x="713231" y="1956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{A5E06139-4F5C-4FA1-B793-B27477BF34BD}</a:tableStyleId>
              </a:tblPr>
              <a:tblGrid>
                <a:gridCol w="1311475"/>
                <a:gridCol w="862825"/>
                <a:gridCol w="636275"/>
                <a:gridCol w="673325"/>
                <a:gridCol w="830200"/>
                <a:gridCol w="830200"/>
                <a:gridCol w="5885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nsola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Bug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Assigned to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b="1" sz="105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Escalation</a:t>
                      </a:r>
                      <a:endParaRPr b="1" sz="105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Conf.</a:t>
                      </a:r>
                      <a:endParaRPr b="1" sz="105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RECOMMENDERS-467951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0.708157</a:t>
                      </a:r>
                      <a:endParaRPr sz="10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EQUINOX-530069 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Compendium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52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09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0.636735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NATTABLE-422482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69583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WTP_JAVA_EE_TOOLS-116294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jst.j2ee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9D74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9D7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Systems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Same-Day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953736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E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PDT-165702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Assist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52B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09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Developer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05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465392</a:t>
                      </a:r>
                      <a:endParaRPr sz="1050" u="none" cap="none" strike="noStrike">
                        <a:solidFill>
                          <a:srgbClr val="1F24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25400" marL="25400" anchor="ctr">
                    <a:lnL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7"/>
          <p:cNvSpPr/>
          <p:nvPr/>
        </p:nvSpPr>
        <p:spPr>
          <a:xfrm>
            <a:off x="6812280" y="1417320"/>
            <a:ext cx="1783080" cy="3108960"/>
          </a:xfrm>
          <a:prstGeom prst="roundRect">
            <a:avLst>
              <a:gd fmla="val 3077" name="adj"/>
            </a:avLst>
          </a:prstGeom>
          <a:solidFill>
            <a:srgbClr val="312E81"/>
          </a:solidFill>
          <a:ln cap="flat" cmpd="sng" w="15875">
            <a:solidFill>
              <a:srgbClr val="3B3A7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995160" y="157276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Today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995160" y="19385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00’s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995160" y="230428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bugs triaged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995160" y="2560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91%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995160" y="292608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auto-assigned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995160" y="31821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0.</a:t>
            </a: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995160" y="354787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avg. confidence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995160" y="380390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 min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995160" y="416966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avg. to owner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incoming bug is scored, labeled and routed in seconds - with a confidence score and one-click human override.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ADVANTAGES &amp; CHALLENGES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Strengths, limits &amp; what's next</a:t>
            </a:r>
            <a:endParaRPr sz="3000"/>
          </a:p>
        </p:txBody>
      </p:sp>
      <p:sp>
        <p:nvSpPr>
          <p:cNvPr id="176" name="Google Shape;176;p8"/>
          <p:cNvSpPr/>
          <p:nvPr/>
        </p:nvSpPr>
        <p:spPr>
          <a:xfrm>
            <a:off x="548640" y="1417320"/>
            <a:ext cx="4023360" cy="2148840"/>
          </a:xfrm>
          <a:prstGeom prst="roundRect">
            <a:avLst>
              <a:gd fmla="val 2553" name="adj"/>
            </a:avLst>
          </a:prstGeom>
          <a:solidFill>
            <a:srgbClr val="D1EDE0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7724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9D74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9D74"/>
                </a:solidFill>
                <a:latin typeface="Trebuchet MS"/>
                <a:ea typeface="Trebuchet MS"/>
                <a:cs typeface="Trebuchet MS"/>
                <a:sym typeface="Trebuchet MS"/>
              </a:rPr>
              <a:t>Key advantages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04672" y="192024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Instant, consistent triage - around the clock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Frees senior engineers from manual routing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Learns from history and improves over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Transparent confidence scores keep humans in control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0" y="1417320"/>
            <a:ext cx="4023360" cy="2148840"/>
          </a:xfrm>
          <a:prstGeom prst="roundRect">
            <a:avLst>
              <a:gd fmla="val 2553" name="adj"/>
            </a:avLst>
          </a:prstGeom>
          <a:solidFill>
            <a:srgbClr val="FBD7CF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80060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limitations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828032" y="192024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Needs enough labeled history to train well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Accuracy dips on brand-new components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Rare or edge-case bugs still need human review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Requires monitoring to guard against drift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fmla="val 5714" name="adj"/>
            </a:avLst>
          </a:prstGeom>
          <a:solidFill>
            <a:srgbClr val="312E81"/>
          </a:solidFill>
          <a:ln cap="flat" cmpd="sng" w="15875">
            <a:solidFill>
              <a:srgbClr val="3B3A7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77240" y="38039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can improve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77240" y="409651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Duplicate detection and </a:t>
            </a:r>
            <a:r>
              <a:rPr b="0" i="0" lang="en-US" sz="1250" u="none" cap="none" strike="noStrike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fix suggestions · expand to feature requests and support tickets · an active-learning loop that trains on engineer feedback.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NEXT STEP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From pilot to production</a:t>
            </a:r>
            <a:endParaRPr sz="3000"/>
          </a:p>
        </p:txBody>
      </p:sp>
      <p:sp>
        <p:nvSpPr>
          <p:cNvPr id="192" name="Google Shape;192;p9"/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fmla="val 7059" name="adj"/>
            </a:avLst>
          </a:prstGeom>
          <a:solidFill>
            <a:srgbClr val="F4F5FE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22960" y="1371600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Readiness:  </a:t>
            </a:r>
            <a:r>
              <a:rPr b="0" i="0" lang="en-US" sz="135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the core model is validated in offline evaluation - ready for a controlled pilot, not yet full production.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2468880"/>
            <a:ext cx="2606040" cy="2148840"/>
          </a:xfrm>
          <a:prstGeom prst="roundRect">
            <a:avLst>
              <a:gd fmla="val 2553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768096" y="2706624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68096" y="27066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353312" y="272491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Pilot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86384" y="33101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Run in shadow mode on one team; compare AI suggestions against human triage.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86384" y="4233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~4 WEEKS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268980" y="2468880"/>
            <a:ext cx="2606040" cy="2148840"/>
          </a:xfrm>
          <a:prstGeom prst="roundRect">
            <a:avLst>
              <a:gd fmla="val 2553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488436" y="2706624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488436" y="27066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073652" y="272491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506724" y="33101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Wire auto-assignment into the tracker with human override and confidence gates.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506724" y="4233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~4–6 WEEKS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989320" y="2468880"/>
            <a:ext cx="2606040" cy="2148840"/>
          </a:xfrm>
          <a:prstGeom prst="roundRect">
            <a:avLst>
              <a:gd fmla="val 2553" name="adj"/>
            </a:avLst>
          </a:prstGeom>
          <a:solidFill>
            <a:srgbClr val="F6F7FD"/>
          </a:solidFill>
          <a:ln cap="flat" cmpd="sng" w="15875">
            <a:solidFill>
              <a:srgbClr val="C3C8E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208776" y="2706624"/>
            <a:ext cx="457200" cy="457200"/>
          </a:xfrm>
          <a:prstGeom prst="ellipse">
            <a:avLst/>
          </a:prstGeom>
          <a:solidFill>
            <a:srgbClr val="FF6B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208776" y="27066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793992" y="272491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Test &amp; roll 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227064" y="33101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Monitor accuracy and drift, tune thresholds, then expand team by team.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227064" y="4233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ONGOING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4937760" y="0"/>
            <a:ext cx="4206240" cy="4206240"/>
          </a:xfrm>
          <a:prstGeom prst="ellipse">
            <a:avLst/>
          </a:prstGeom>
          <a:solidFill>
            <a:srgbClr val="4F46E5">
              <a:alpha val="2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217920" y="2217420"/>
            <a:ext cx="2926080" cy="2926080"/>
          </a:xfrm>
          <a:prstGeom prst="ellipse">
            <a:avLst/>
          </a:prstGeom>
          <a:solidFill>
            <a:srgbClr val="FF6B5C">
              <a:alpha val="1803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58368" y="56692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F6B5C"/>
                </a:solidFill>
                <a:latin typeface="Consolas"/>
                <a:ea typeface="Consolas"/>
                <a:cs typeface="Consolas"/>
                <a:sym typeface="Consolas"/>
              </a:rPr>
              <a:t>SUMMARY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>
            <p:ph type="title"/>
          </p:nvPr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built</a:t>
            </a:r>
            <a:endParaRPr sz="3200"/>
          </a:p>
        </p:txBody>
      </p:sp>
      <p:sp>
        <p:nvSpPr>
          <p:cNvPr id="221" name="Google Shape;221;p10"/>
          <p:cNvSpPr/>
          <p:nvPr/>
        </p:nvSpPr>
        <p:spPr>
          <a:xfrm>
            <a:off x="685800" y="1874520"/>
            <a:ext cx="7498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3200" lvl="0" marL="20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EAF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E9EAFF"/>
                </a:solidFill>
                <a:latin typeface="Calibri"/>
                <a:ea typeface="Calibri"/>
                <a:cs typeface="Calibri"/>
                <a:sym typeface="Calibri"/>
              </a:rPr>
              <a:t>An ML system that classifies and routes bugs automatically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9EAF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E9EAFF"/>
                </a:solidFill>
                <a:latin typeface="Calibri"/>
                <a:ea typeface="Calibri"/>
                <a:cs typeface="Calibri"/>
                <a:sym typeface="Calibri"/>
              </a:rPr>
              <a:t>Cutting manual triage, speeding resolution and shortening release cycles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9EAF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E9EAFF"/>
                </a:solidFill>
                <a:latin typeface="Calibri"/>
                <a:ea typeface="Calibri"/>
                <a:cs typeface="Calibri"/>
                <a:sym typeface="Calibri"/>
              </a:rPr>
              <a:t>Validated in evaluation and ready for a controlled pilot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58368" y="3310128"/>
            <a:ext cx="7818120" cy="1024128"/>
          </a:xfrm>
          <a:prstGeom prst="roundRect">
            <a:avLst>
              <a:gd fmla="val 5357" name="adj"/>
            </a:avLst>
          </a:prstGeom>
          <a:solidFill>
            <a:srgbClr val="312E81"/>
          </a:solidFill>
          <a:ln cap="flat" cmpd="sng" w="15875">
            <a:solidFill>
              <a:srgbClr val="3B3A7A"/>
            </a:solidFill>
            <a:prstDash val="solid"/>
            <a:round/>
            <a:headEnd len="sm" w="sm" type="none"/>
            <a:tailEnd len="sm" w="sm" type="none"/>
          </a:ln>
          <a:effectLst>
            <a:outerShdw blurRad="165100" rotWithShape="0" algn="bl" dir="5400000" dist="38100">
              <a:srgbClr val="8A90C8">
                <a:alpha val="3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60120" y="3310128"/>
            <a:ext cx="72237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rebuchet MS"/>
              <a:buNone/>
            </a:pPr>
            <a:r>
              <a:rPr b="1" i="1" lang="en-US" sz="2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Turning bug triage from a bottleneck into an automated, data-driven advantage.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85800" y="4498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2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B2E8"/>
                </a:solidFill>
                <a:latin typeface="Calibri"/>
                <a:ea typeface="Calibri"/>
                <a:cs typeface="Calibri"/>
                <a:sym typeface="Calibri"/>
              </a:rPr>
              <a:t>Erin Schaverien &amp; Ron Ness ·  BugTriageAI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2026-07-17T08:53:31Z</dcterms:created>
  <dc:creator>Ron Ness</dc:creator>
</cp:coreProperties>
</file>